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50" d="100"/>
          <a:sy n="50" d="100"/>
        </p:scale>
        <p:origin x="-1176" y="2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5A7B32-8A58-4BA6-9FC9-B5099508632A}" type="datetimeFigureOut">
              <a:rPr lang="en-US" smtClean="0"/>
              <a:pPr/>
              <a:t>9/12/2017</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69FBAD-5463-423B-A48C-E5030CC543E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prefixes “pre”, “post” and “in” refer to the relative position of the operator with respect to the two operands </a:t>
            </a:r>
          </a:p>
          <a:p>
            <a:r>
              <a:rPr lang="en-US" dirty="0" smtClean="0"/>
              <a:t>In prefix notation, the operator precedes the two operands, in postfix notation the operator follows the two operands, and in infix notation</a:t>
            </a:r>
            <a:r>
              <a:rPr lang="en-US" baseline="0" dirty="0" smtClean="0"/>
              <a:t> the operator is between the two operands</a:t>
            </a:r>
            <a:endParaRPr lang="en-US"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11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14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IN" dirty="0" smtClean="0"/>
              <a:t>If precedence (token) &gt; precedence (</a:t>
            </a:r>
            <a:r>
              <a:rPr lang="en-IN" dirty="0" err="1" smtClean="0"/>
              <a:t>sTop</a:t>
            </a:r>
            <a:r>
              <a:rPr lang="en-IN" dirty="0" smtClean="0"/>
              <a:t>) then</a:t>
            </a:r>
          </a:p>
          <a:p>
            <a:pPr lvl="2"/>
            <a:r>
              <a:rPr lang="en-IN" dirty="0" smtClean="0"/>
              <a:t>push token/ operator onto stack </a:t>
            </a:r>
          </a:p>
          <a:p>
            <a:pPr lvl="1"/>
            <a:endParaRPr lang="en-IN" dirty="0" smtClean="0"/>
          </a:p>
          <a:p>
            <a:pPr lvl="1"/>
            <a:r>
              <a:rPr lang="en-IN" dirty="0" smtClean="0"/>
              <a:t>If precedence (token) &lt;= precedence (</a:t>
            </a:r>
            <a:r>
              <a:rPr lang="en-IN" dirty="0" err="1" smtClean="0"/>
              <a:t>sTop</a:t>
            </a:r>
            <a:r>
              <a:rPr lang="en-IN" dirty="0" smtClean="0"/>
              <a:t>) then </a:t>
            </a:r>
          </a:p>
          <a:p>
            <a:pPr lvl="2"/>
            <a:r>
              <a:rPr lang="en-IN" dirty="0" smtClean="0"/>
              <a:t>Pop stack and write to output till stack empty</a:t>
            </a:r>
          </a:p>
          <a:p>
            <a:pPr lvl="2"/>
            <a:r>
              <a:rPr lang="en-IN" dirty="0" smtClean="0"/>
              <a:t>Push token onto stack </a:t>
            </a:r>
          </a:p>
          <a:p>
            <a:endParaRPr lang="en-IN"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15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dirty="0" smtClean="0"/>
              <a:t>Pop stack until corresponding left parenthesis is found. If stack</a:t>
            </a:r>
          </a:p>
          <a:p>
            <a:r>
              <a:rPr lang="en-IN" dirty="0" smtClean="0"/>
              <a:t>becomes empty, report error. Otherwise write each operator to</a:t>
            </a:r>
          </a:p>
          <a:p>
            <a:r>
              <a:rPr lang="en-IN" dirty="0" smtClean="0"/>
              <a:t>output as it is popped from stack</a:t>
            </a:r>
            <a:endParaRPr lang="en-IN"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16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IN" dirty="0" smtClean="0"/>
              <a:t>If precedence (token) &gt; precedence (</a:t>
            </a:r>
            <a:r>
              <a:rPr lang="en-IN" dirty="0" err="1" smtClean="0"/>
              <a:t>sTop</a:t>
            </a:r>
            <a:r>
              <a:rPr lang="en-IN" dirty="0" smtClean="0"/>
              <a:t>) then</a:t>
            </a:r>
          </a:p>
          <a:p>
            <a:pPr lvl="2"/>
            <a:r>
              <a:rPr lang="en-IN" dirty="0" smtClean="0"/>
              <a:t>push token/ operator onto stack </a:t>
            </a:r>
          </a:p>
          <a:p>
            <a:pPr lvl="1"/>
            <a:endParaRPr lang="en-IN" dirty="0" smtClean="0"/>
          </a:p>
          <a:p>
            <a:pPr lvl="1"/>
            <a:r>
              <a:rPr lang="en-IN" dirty="0" smtClean="0"/>
              <a:t>If precedence (token) &lt;= precedence (</a:t>
            </a:r>
            <a:r>
              <a:rPr lang="en-IN" dirty="0" err="1" smtClean="0"/>
              <a:t>sTop</a:t>
            </a:r>
            <a:r>
              <a:rPr lang="en-IN" dirty="0" smtClean="0"/>
              <a:t>) then </a:t>
            </a:r>
          </a:p>
          <a:p>
            <a:pPr lvl="2"/>
            <a:r>
              <a:rPr lang="en-IN" dirty="0" smtClean="0"/>
              <a:t>Pop stack and write to output till stack empty</a:t>
            </a:r>
          </a:p>
          <a:p>
            <a:pPr lvl="2"/>
            <a:r>
              <a:rPr lang="en-IN" dirty="0" smtClean="0"/>
              <a:t>Push token onto stack </a:t>
            </a:r>
          </a:p>
          <a:p>
            <a:endParaRPr lang="en-IN"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18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20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63+2*</a:t>
            </a:r>
          </a:p>
          <a:p>
            <a:endParaRPr lang="en-US" dirty="0" smtClean="0"/>
          </a:p>
          <a:p>
            <a:r>
              <a:rPr lang="en-US" smtClean="0"/>
              <a:t>(6+3) * 2</a:t>
            </a:r>
            <a:endParaRPr lang="en-US"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22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dirty="0" smtClean="0"/>
              <a:t>-A*/BCD</a:t>
            </a:r>
            <a:endParaRPr lang="en-IN" dirty="0"/>
          </a:p>
        </p:txBody>
      </p:sp>
      <p:sp>
        <p:nvSpPr>
          <p:cNvPr id="4" name="Slide Number Placeholder 3"/>
          <p:cNvSpPr>
            <a:spLocks noGrp="1"/>
          </p:cNvSpPr>
          <p:nvPr>
            <p:ph type="sldNum" sz="quarter" idx="10"/>
          </p:nvPr>
        </p:nvSpPr>
        <p:spPr/>
        <p:txBody>
          <a:bodyPr/>
          <a:lstStyle/>
          <a:p>
            <a:fld id="{5DA83FAB-CB62-44D0-9234-6E410D97E420}" type="slidenum">
              <a:rPr lang="en-US" smtClean="0"/>
              <a:pPr/>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solidFill>
                  <a:srgbClr val="FF0000"/>
                </a:solidFill>
              </a:defRPr>
            </a:lvl1pPr>
          </a:lstStyle>
          <a:p>
            <a:r>
              <a:rPr lang="en-US" dirty="0" smtClean="0"/>
              <a:t>Click to edit Master title style</a:t>
            </a:r>
            <a:endParaRPr lang="en-IN"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E2B9242-6D1E-4FD1-8B97-33CE4B47D65F}" type="datetimeFigureOut">
              <a:rPr lang="en-US" smtClean="0"/>
              <a:pPr/>
              <a:t>9/12/2017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FF0000"/>
                </a:solidFill>
              </a:defRPr>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2B9242-6D1E-4FD1-8B97-33CE4B47D65F}" type="datetimeFigureOut">
              <a:rPr lang="en-US" smtClean="0"/>
              <a:pPr/>
              <a:t>9/12/2017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2B9242-6D1E-4FD1-8B97-33CE4B47D65F}" type="datetimeFigureOut">
              <a:rPr lang="en-US" smtClean="0"/>
              <a:pPr/>
              <a:t>9/12/2017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FF0000"/>
                </a:solidFill>
              </a:defRPr>
            </a:lvl1pPr>
          </a:lstStyle>
          <a:p>
            <a:r>
              <a:rPr lang="en-US" dirty="0" smtClean="0"/>
              <a:t>Click to edit Master title style</a:t>
            </a:r>
            <a:endParaRPr lang="en-IN"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E2B9242-6D1E-4FD1-8B97-33CE4B47D65F}" type="datetimeFigureOut">
              <a:rPr lang="en-US" smtClean="0"/>
              <a:pPr/>
              <a:t>9/12/2017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FF0000"/>
                </a:solidFill>
              </a:defRPr>
            </a:lvl1pPr>
          </a:lstStyle>
          <a:p>
            <a:r>
              <a:rPr lang="en-US" dirty="0" smtClean="0"/>
              <a:t>Click to edit Master title style</a:t>
            </a:r>
            <a:endParaRPr lang="en-IN"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E2B9242-6D1E-4FD1-8B97-33CE4B47D65F}" type="datetimeFigureOut">
              <a:rPr lang="en-US" smtClean="0"/>
              <a:pPr/>
              <a:t>9/12/2017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FF0000"/>
                </a:solidFill>
              </a:defRPr>
            </a:lvl1pPr>
          </a:lstStyle>
          <a:p>
            <a:r>
              <a:rPr lang="en-US" dirty="0" smtClean="0"/>
              <a:t>Click to edit Master title style</a:t>
            </a:r>
            <a:endParaRPr lang="en-IN" dirty="0"/>
          </a:p>
        </p:txBody>
      </p:sp>
      <p:sp>
        <p:nvSpPr>
          <p:cNvPr id="3" name="Date Placeholder 2"/>
          <p:cNvSpPr>
            <a:spLocks noGrp="1"/>
          </p:cNvSpPr>
          <p:nvPr>
            <p:ph type="dt" sz="half" idx="10"/>
          </p:nvPr>
        </p:nvSpPr>
        <p:spPr/>
        <p:txBody>
          <a:bodyPr/>
          <a:lstStyle/>
          <a:p>
            <a:fld id="{8E2B9242-6D1E-4FD1-8B97-33CE4B47D65F}" type="datetimeFigureOut">
              <a:rPr lang="en-US" smtClean="0"/>
              <a:pPr/>
              <a:t>9/12/2017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B9242-6D1E-4FD1-8B97-33CE4B47D65F}" type="datetimeFigureOut">
              <a:rPr lang="en-US" smtClean="0"/>
              <a:pPr/>
              <a:t>9/12/2017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2B9242-6D1E-4FD1-8B97-33CE4B47D65F}" type="datetimeFigureOut">
              <a:rPr lang="en-US" smtClean="0"/>
              <a:pPr/>
              <a:t>9/12/2017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2B9242-6D1E-4FD1-8B97-33CE4B47D65F}" type="datetimeFigureOut">
              <a:rPr lang="en-US" smtClean="0"/>
              <a:pPr/>
              <a:t>9/12/2017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FF0000"/>
                </a:solidFill>
              </a:defRPr>
            </a:lvl1pPr>
          </a:lstStyle>
          <a:p>
            <a:r>
              <a:rPr lang="en-US" dirty="0" smtClean="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2B9242-6D1E-4FD1-8B97-33CE4B47D65F}" type="datetimeFigureOut">
              <a:rPr lang="en-US" smtClean="0"/>
              <a:pPr/>
              <a:t>9/12/2017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b="1">
                <a:solidFill>
                  <a:srgbClr val="FF0000"/>
                </a:solidFill>
              </a:defRPr>
            </a:lvl1pPr>
          </a:lstStyle>
          <a:p>
            <a:r>
              <a:rPr lang="en-US" dirty="0" smtClean="0"/>
              <a:t>Click to edit Master title style</a:t>
            </a:r>
            <a:endParaRPr lang="en-IN"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2B9242-6D1E-4FD1-8B97-33CE4B47D65F}" type="datetimeFigureOut">
              <a:rPr lang="en-US" smtClean="0"/>
              <a:pPr/>
              <a:t>9/12/2017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8DB0A-F5E7-4133-A03F-3CAD8A29FF77}"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B9242-6D1E-4FD1-8B97-33CE4B47D65F}" type="datetimeFigureOut">
              <a:rPr lang="en-US" smtClean="0"/>
              <a:pPr/>
              <a:t>9/12/2017</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18DB0A-F5E7-4133-A03F-3CAD8A29FF77}"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b="1" kern="1200">
          <a:solidFill>
            <a:srgbClr val="FF0000"/>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Applications of Stack</a:t>
            </a:r>
            <a:endParaRPr lang="en-IN" dirty="0"/>
          </a:p>
        </p:txBody>
      </p:sp>
      <p:sp>
        <p:nvSpPr>
          <p:cNvPr id="3" name="Subtitle 2"/>
          <p:cNvSpPr>
            <a:spLocks noGrp="1"/>
          </p:cNvSpPr>
          <p:nvPr>
            <p:ph type="subTitle" idx="1"/>
          </p:nvPr>
        </p:nvSpPr>
        <p:spPr/>
        <p:txBody>
          <a:bodyPr/>
          <a:lstStyle/>
          <a:p>
            <a:r>
              <a:rPr lang="en-IN" b="1" dirty="0" smtClean="0">
                <a:solidFill>
                  <a:srgbClr val="002060"/>
                </a:solidFill>
              </a:rPr>
              <a:t>Dr. R. B. Patel</a:t>
            </a:r>
            <a:endParaRPr lang="en-IN" b="1" dirty="0">
              <a:solidFill>
                <a:srgbClr val="00206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Stacks</a:t>
            </a:r>
            <a:endParaRPr lang="en-US" dirty="0"/>
          </a:p>
        </p:txBody>
      </p:sp>
      <p:sp>
        <p:nvSpPr>
          <p:cNvPr id="3" name="Content Placeholder 2"/>
          <p:cNvSpPr>
            <a:spLocks noGrp="1"/>
          </p:cNvSpPr>
          <p:nvPr>
            <p:ph idx="1"/>
          </p:nvPr>
        </p:nvSpPr>
        <p:spPr/>
        <p:txBody>
          <a:bodyPr>
            <a:normAutofit/>
          </a:bodyPr>
          <a:lstStyle/>
          <a:p>
            <a:r>
              <a:rPr lang="en-US" dirty="0" smtClean="0"/>
              <a:t>Last In First Out (LIFO List) </a:t>
            </a:r>
          </a:p>
          <a:p>
            <a:pPr lvl="1"/>
            <a:r>
              <a:rPr lang="en-US" dirty="0" smtClean="0"/>
              <a:t>FILO?</a:t>
            </a:r>
          </a:p>
          <a:p>
            <a:r>
              <a:rPr lang="en-US" dirty="0" smtClean="0"/>
              <a:t>Insertions and Deletions from the same end called the Top </a:t>
            </a:r>
          </a:p>
          <a:p>
            <a:r>
              <a:rPr lang="en-US" dirty="0" smtClean="0"/>
              <a:t>Push(), Pop(), Top(), </a:t>
            </a:r>
            <a:r>
              <a:rPr lang="en-US" dirty="0" err="1" smtClean="0"/>
              <a:t>IsEmpty</a:t>
            </a:r>
            <a:r>
              <a:rPr lang="en-US" dirty="0" smtClean="0"/>
              <a:t>() </a:t>
            </a:r>
            <a:r>
              <a:rPr lang="en-US" dirty="0" err="1" smtClean="0"/>
              <a:t>IsFull</a:t>
            </a:r>
            <a:r>
              <a:rPr lang="en-US" dirty="0" smtClean="0"/>
              <a:t>() </a:t>
            </a:r>
          </a:p>
          <a:p>
            <a:r>
              <a:rPr lang="en-US" dirty="0" smtClean="0"/>
              <a:t>Implementation </a:t>
            </a:r>
          </a:p>
          <a:p>
            <a:pPr lvl="1"/>
            <a:r>
              <a:rPr lang="en-US" dirty="0" smtClean="0"/>
              <a:t>Arrays </a:t>
            </a:r>
          </a:p>
          <a:p>
            <a:pPr lvl="1"/>
            <a:r>
              <a:rPr lang="en-US" dirty="0" smtClean="0"/>
              <a:t>Linked Lists (SLL/DLL)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Stacks</a:t>
            </a:r>
            <a:endParaRPr lang="en-US" dirty="0"/>
          </a:p>
        </p:txBody>
      </p:sp>
      <p:sp>
        <p:nvSpPr>
          <p:cNvPr id="3" name="Content Placeholder 2"/>
          <p:cNvSpPr>
            <a:spLocks noGrp="1"/>
          </p:cNvSpPr>
          <p:nvPr>
            <p:ph idx="1"/>
          </p:nvPr>
        </p:nvSpPr>
        <p:spPr/>
        <p:txBody>
          <a:bodyPr/>
          <a:lstStyle/>
          <a:p>
            <a:r>
              <a:rPr lang="en-US" dirty="0" smtClean="0"/>
              <a:t>Define a Stack ADT </a:t>
            </a:r>
          </a:p>
          <a:p>
            <a:pPr>
              <a:buNone/>
            </a:pPr>
            <a:endParaRPr lang="en-US" dirty="0" smtClean="0"/>
          </a:p>
          <a:p>
            <a:r>
              <a:rPr lang="en-US" dirty="0" smtClean="0"/>
              <a:t>Define a Class Stack that can store any type of basic data – integer, character etc. </a:t>
            </a:r>
          </a:p>
          <a:p>
            <a:pPr>
              <a:buNone/>
            </a:pPr>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Stack</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Reversing a String </a:t>
            </a:r>
          </a:p>
          <a:p>
            <a:r>
              <a:rPr lang="en-US" dirty="0" smtClean="0"/>
              <a:t>Parentheses Matching</a:t>
            </a:r>
          </a:p>
          <a:p>
            <a:r>
              <a:rPr lang="en-US" dirty="0" smtClean="0"/>
              <a:t>Arithmetic Expressions </a:t>
            </a:r>
          </a:p>
          <a:p>
            <a:pPr lvl="1"/>
            <a:r>
              <a:rPr lang="en-US" dirty="0" smtClean="0"/>
              <a:t>Infix to Postfix conversion </a:t>
            </a:r>
          </a:p>
          <a:p>
            <a:pPr lvl="1"/>
            <a:r>
              <a:rPr lang="en-US" dirty="0" smtClean="0"/>
              <a:t>Infix to Prefix conversion</a:t>
            </a:r>
          </a:p>
          <a:p>
            <a:pPr lvl="1"/>
            <a:r>
              <a:rPr lang="en-US" dirty="0" smtClean="0"/>
              <a:t>Evaluation of Postfix arithmetic expressions</a:t>
            </a:r>
          </a:p>
          <a:p>
            <a:r>
              <a:rPr lang="en-US" dirty="0" smtClean="0"/>
              <a:t>Matching HTML tags </a:t>
            </a:r>
          </a:p>
          <a:p>
            <a:r>
              <a:rPr lang="en-US" dirty="0" smtClean="0"/>
              <a:t>Number conversions from </a:t>
            </a:r>
          </a:p>
          <a:p>
            <a:pPr lvl="1"/>
            <a:r>
              <a:rPr lang="en-US" dirty="0" smtClean="0"/>
              <a:t>Decimal to other base (2,8,16)</a:t>
            </a:r>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7498080" cy="1143000"/>
          </a:xfrm>
        </p:spPr>
        <p:txBody>
          <a:bodyPr/>
          <a:lstStyle/>
          <a:p>
            <a:r>
              <a:rPr lang="en-IN" dirty="0" smtClean="0"/>
              <a:t>Reversing a String</a:t>
            </a:r>
            <a:endParaRPr lang="en-IN" dirty="0"/>
          </a:p>
        </p:txBody>
      </p:sp>
      <p:sp>
        <p:nvSpPr>
          <p:cNvPr id="3" name="Content Placeholder 2"/>
          <p:cNvSpPr>
            <a:spLocks noGrp="1"/>
          </p:cNvSpPr>
          <p:nvPr>
            <p:ph idx="1"/>
          </p:nvPr>
        </p:nvSpPr>
        <p:spPr>
          <a:xfrm>
            <a:off x="214282" y="571480"/>
            <a:ext cx="8719406" cy="5676920"/>
          </a:xfrm>
        </p:spPr>
        <p:txBody>
          <a:bodyPr>
            <a:noAutofit/>
          </a:bodyPr>
          <a:lstStyle/>
          <a:p>
            <a:pPr>
              <a:buNone/>
            </a:pPr>
            <a:r>
              <a:rPr lang="en-US" sz="2800" dirty="0" smtClean="0"/>
              <a:t>main() {</a:t>
            </a:r>
          </a:p>
          <a:p>
            <a:pPr>
              <a:buNone/>
            </a:pPr>
            <a:r>
              <a:rPr lang="en-US" sz="2800" dirty="0" smtClean="0"/>
              <a:t>	string </a:t>
            </a:r>
            <a:r>
              <a:rPr lang="en-US" sz="2800" dirty="0" err="1" smtClean="0"/>
              <a:t>str</a:t>
            </a:r>
            <a:r>
              <a:rPr lang="en-US" sz="2800" dirty="0" smtClean="0"/>
              <a:t> = “Hi Test Me ";</a:t>
            </a:r>
          </a:p>
          <a:p>
            <a:pPr>
              <a:buNone/>
            </a:pPr>
            <a:r>
              <a:rPr lang="en-US" sz="2800" dirty="0" smtClean="0"/>
              <a:t>	stack&lt;char&gt; s;</a:t>
            </a:r>
            <a:r>
              <a:rPr lang="en-US" sz="2800" b="1" dirty="0" smtClean="0">
                <a:solidFill>
                  <a:srgbClr val="FF0000"/>
                </a:solidFill>
              </a:rPr>
              <a:t> // Suppose it is a vector variable</a:t>
            </a:r>
          </a:p>
          <a:p>
            <a:pPr>
              <a:buNone/>
            </a:pPr>
            <a:r>
              <a:rPr lang="en-US" sz="2800" dirty="0" smtClean="0"/>
              <a:t>	</a:t>
            </a:r>
            <a:r>
              <a:rPr lang="en-US" sz="2800" dirty="0" err="1" smtClean="0"/>
              <a:t>int</a:t>
            </a:r>
            <a:r>
              <a:rPr lang="en-US" sz="2800" dirty="0" smtClean="0"/>
              <a:t> n = </a:t>
            </a:r>
            <a:r>
              <a:rPr lang="en-US" sz="2800" dirty="0" err="1" smtClean="0"/>
              <a:t>str</a:t>
            </a:r>
            <a:r>
              <a:rPr lang="en-US" sz="2800" dirty="0" err="1" smtClean="0"/>
              <a:t>.length</a:t>
            </a:r>
            <a:r>
              <a:rPr lang="en-US" sz="2800" dirty="0" smtClean="0"/>
              <a:t>();</a:t>
            </a:r>
          </a:p>
          <a:p>
            <a:pPr>
              <a:buNone/>
            </a:pPr>
            <a:r>
              <a:rPr lang="en-US" sz="2800" b="1" dirty="0" smtClean="0">
                <a:solidFill>
                  <a:srgbClr val="FF0000"/>
                </a:solidFill>
              </a:rPr>
              <a:t>    	//Put characters from </a:t>
            </a:r>
            <a:r>
              <a:rPr lang="en-US" sz="2800" b="1" dirty="0" err="1" smtClean="0">
                <a:solidFill>
                  <a:srgbClr val="0070C0"/>
                </a:solidFill>
              </a:rPr>
              <a:t>str</a:t>
            </a:r>
            <a:r>
              <a:rPr lang="en-US" sz="2800" b="1" dirty="0" smtClean="0">
                <a:solidFill>
                  <a:srgbClr val="0070C0"/>
                </a:solidFill>
              </a:rPr>
              <a:t> </a:t>
            </a:r>
            <a:r>
              <a:rPr lang="en-US" sz="2800" b="1" dirty="0" smtClean="0">
                <a:solidFill>
                  <a:srgbClr val="FF0000"/>
                </a:solidFill>
              </a:rPr>
              <a:t>onto the stack</a:t>
            </a:r>
          </a:p>
          <a:p>
            <a:pPr>
              <a:buNone/>
            </a:pPr>
            <a:r>
              <a:rPr lang="en-US" sz="2800" dirty="0" smtClean="0"/>
              <a:t>	   for(</a:t>
            </a:r>
            <a:r>
              <a:rPr lang="en-US" sz="2800" dirty="0" err="1" smtClean="0"/>
              <a:t>int</a:t>
            </a:r>
            <a:r>
              <a:rPr lang="en-US" sz="2800" dirty="0" smtClean="0"/>
              <a:t> </a:t>
            </a:r>
            <a:r>
              <a:rPr lang="en-US" sz="2800" dirty="0" err="1" smtClean="0"/>
              <a:t>i</a:t>
            </a:r>
            <a:r>
              <a:rPr lang="en-US" sz="2800" dirty="0" smtClean="0"/>
              <a:t>=0; </a:t>
            </a:r>
            <a:r>
              <a:rPr lang="en-US" sz="2800" dirty="0" err="1" smtClean="0"/>
              <a:t>i</a:t>
            </a:r>
            <a:r>
              <a:rPr lang="en-US" sz="2800" dirty="0" smtClean="0"/>
              <a:t>&lt;n; ++</a:t>
            </a:r>
            <a:r>
              <a:rPr lang="en-US" sz="2800" dirty="0" err="1" smtClean="0"/>
              <a:t>i</a:t>
            </a:r>
            <a:r>
              <a:rPr lang="en-US" sz="2800" dirty="0" smtClean="0"/>
              <a:t>)</a:t>
            </a:r>
          </a:p>
          <a:p>
            <a:pPr>
              <a:buNone/>
            </a:pPr>
            <a:r>
              <a:rPr lang="en-US" sz="2800" dirty="0" smtClean="0"/>
              <a:t>		</a:t>
            </a:r>
            <a:r>
              <a:rPr lang="en-US" sz="2800" dirty="0" err="1" smtClean="0"/>
              <a:t>s.push</a:t>
            </a:r>
            <a:r>
              <a:rPr lang="en-US" sz="2800" dirty="0" smtClean="0"/>
              <a:t>(</a:t>
            </a:r>
            <a:r>
              <a:rPr lang="en-US" sz="2800" dirty="0" err="1" smtClean="0"/>
              <a:t>str</a:t>
            </a:r>
            <a:r>
              <a:rPr lang="en-US" sz="2800" dirty="0" smtClean="0"/>
              <a:t>[</a:t>
            </a:r>
            <a:r>
              <a:rPr lang="en-US" sz="2800" dirty="0" err="1" smtClean="0"/>
              <a:t>i</a:t>
            </a:r>
            <a:r>
              <a:rPr lang="en-US" sz="2800" dirty="0" smtClean="0"/>
              <a:t>]);</a:t>
            </a:r>
          </a:p>
          <a:p>
            <a:pPr>
              <a:buNone/>
            </a:pPr>
            <a:r>
              <a:rPr lang="en-US" sz="2800" dirty="0" smtClean="0"/>
              <a:t> </a:t>
            </a:r>
            <a:r>
              <a:rPr lang="en-US" sz="2800" b="1" dirty="0" smtClean="0">
                <a:solidFill>
                  <a:srgbClr val="FF0000"/>
                </a:solidFill>
              </a:rPr>
              <a:t>//Take characters off of stack and put them back into </a:t>
            </a:r>
            <a:r>
              <a:rPr lang="en-US" sz="2800" b="1" dirty="0" err="1" smtClean="0">
                <a:solidFill>
                  <a:srgbClr val="0070C0"/>
                </a:solidFill>
              </a:rPr>
              <a:t>str</a:t>
            </a:r>
            <a:endParaRPr lang="en-US" sz="2800" b="1" dirty="0" smtClean="0">
              <a:solidFill>
                <a:srgbClr val="0070C0"/>
              </a:solidFill>
            </a:endParaRPr>
          </a:p>
          <a:p>
            <a:pPr>
              <a:buNone/>
            </a:pPr>
            <a:r>
              <a:rPr lang="en-US" sz="2800" dirty="0" smtClean="0"/>
              <a:t>	   for(</a:t>
            </a:r>
            <a:r>
              <a:rPr lang="en-US" sz="2800" dirty="0" err="1" smtClean="0"/>
              <a:t>int</a:t>
            </a:r>
            <a:r>
              <a:rPr lang="en-US" sz="2800" dirty="0" smtClean="0"/>
              <a:t> </a:t>
            </a:r>
            <a:r>
              <a:rPr lang="en-US" sz="2800" dirty="0" err="1" smtClean="0"/>
              <a:t>i</a:t>
            </a:r>
            <a:r>
              <a:rPr lang="en-US" sz="2800" dirty="0" smtClean="0"/>
              <a:t>=0; !</a:t>
            </a:r>
            <a:r>
              <a:rPr lang="en-US" sz="2800" dirty="0" err="1" smtClean="0"/>
              <a:t>s.empty</a:t>
            </a:r>
            <a:r>
              <a:rPr lang="en-US" sz="2800" dirty="0" smtClean="0"/>
              <a:t>(); ++</a:t>
            </a:r>
            <a:r>
              <a:rPr lang="en-US" sz="2800" dirty="0" err="1" smtClean="0"/>
              <a:t>i</a:t>
            </a:r>
            <a:r>
              <a:rPr lang="en-US" sz="2800" dirty="0" smtClean="0"/>
              <a:t>, s.pop())</a:t>
            </a:r>
          </a:p>
          <a:p>
            <a:pPr>
              <a:buNone/>
            </a:pPr>
            <a:r>
              <a:rPr lang="en-US" sz="2800" dirty="0" smtClean="0"/>
              <a:t>		</a:t>
            </a:r>
            <a:r>
              <a:rPr lang="en-US" sz="2800" dirty="0" err="1" smtClean="0"/>
              <a:t>str</a:t>
            </a:r>
            <a:r>
              <a:rPr lang="en-US" sz="2800" dirty="0" smtClean="0"/>
              <a:t>[</a:t>
            </a:r>
            <a:r>
              <a:rPr lang="en-US" sz="2800" dirty="0" err="1" smtClean="0"/>
              <a:t>i</a:t>
            </a:r>
            <a:r>
              <a:rPr lang="en-US" sz="2800" dirty="0" smtClean="0"/>
              <a:t>]=</a:t>
            </a:r>
            <a:r>
              <a:rPr lang="en-US" sz="2800" dirty="0" err="1" smtClean="0"/>
              <a:t>s.top</a:t>
            </a:r>
            <a:r>
              <a:rPr lang="en-US" sz="2800" dirty="0" smtClean="0"/>
              <a:t>();</a:t>
            </a:r>
          </a:p>
          <a:p>
            <a:pPr>
              <a:buNone/>
            </a:pPr>
            <a:r>
              <a:rPr lang="en-US" sz="2800" dirty="0" smtClean="0"/>
              <a:t>	 	</a:t>
            </a:r>
            <a:r>
              <a:rPr lang="en-US" sz="2800" dirty="0" err="1" smtClean="0"/>
              <a:t>cout</a:t>
            </a:r>
            <a:r>
              <a:rPr lang="en-US" sz="2800" dirty="0" smtClean="0"/>
              <a:t> &lt;&lt; </a:t>
            </a:r>
            <a:r>
              <a:rPr lang="en-US" sz="2800" dirty="0" err="1" smtClean="0"/>
              <a:t>str</a:t>
            </a:r>
            <a:r>
              <a:rPr lang="en-US" sz="2800" dirty="0" smtClean="0"/>
              <a:t>&lt;&lt; </a:t>
            </a:r>
            <a:r>
              <a:rPr lang="en-US" sz="2800" dirty="0" err="1" smtClean="0"/>
              <a:t>endl</a:t>
            </a:r>
            <a:r>
              <a:rPr lang="en-US" sz="2800" dirty="0" smtClean="0"/>
              <a:t>;		</a:t>
            </a:r>
          </a:p>
          <a:p>
            <a:pPr>
              <a:buNone/>
            </a:pPr>
            <a:r>
              <a:rPr lang="en-US" sz="2800" dirty="0" smtClean="0"/>
              <a:t>  }</a:t>
            </a:r>
            <a:endParaRPr lang="en-IN"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Matching Parentheses</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Balanced parentheses and brackets </a:t>
            </a:r>
          </a:p>
          <a:p>
            <a:pPr lvl="1"/>
            <a:r>
              <a:rPr lang="en-IN" dirty="0" smtClean="0"/>
              <a:t>every open parenthesis/bracket is matched with a corresponding close parenthesis</a:t>
            </a:r>
          </a:p>
          <a:p>
            <a:pPr lvl="1"/>
            <a:r>
              <a:rPr lang="en-IN" dirty="0" smtClean="0"/>
              <a:t>Parenthesis/bracket are properly nested</a:t>
            </a:r>
          </a:p>
          <a:p>
            <a:pPr lvl="1"/>
            <a:endParaRPr lang="en-IN" dirty="0" smtClean="0"/>
          </a:p>
          <a:p>
            <a:r>
              <a:rPr lang="en-IN" dirty="0" smtClean="0"/>
              <a:t>Example</a:t>
            </a:r>
          </a:p>
          <a:p>
            <a:pPr marL="576072" lvl="3" indent="-283464">
              <a:spcBef>
                <a:spcPts val="600"/>
              </a:spcBef>
              <a:buClr>
                <a:schemeClr val="accent1"/>
              </a:buClr>
              <a:buSzPct val="80000"/>
              <a:buFont typeface="Wingdings 2"/>
              <a:buChar char=""/>
            </a:pPr>
            <a:r>
              <a:rPr lang="en-IN" sz="2400" dirty="0" smtClean="0"/>
              <a:t>(x(y)(z))		- balanced</a:t>
            </a:r>
          </a:p>
          <a:p>
            <a:pPr marL="576072" lvl="3" indent="-283464">
              <a:lnSpc>
                <a:spcPct val="110000"/>
              </a:lnSpc>
              <a:spcBef>
                <a:spcPts val="600"/>
              </a:spcBef>
              <a:buClr>
                <a:schemeClr val="accent1"/>
              </a:buClr>
              <a:buSzPct val="80000"/>
              <a:buFont typeface="Wingdings 2"/>
              <a:buChar char=""/>
            </a:pPr>
            <a:r>
              <a:rPr lang="en-IN" sz="2400" dirty="0" smtClean="0"/>
              <a:t>a( {(b)}c)		- balanced</a:t>
            </a:r>
          </a:p>
          <a:p>
            <a:pPr marL="576072" lvl="3" indent="-283464">
              <a:lnSpc>
                <a:spcPct val="110000"/>
              </a:lnSpc>
              <a:spcBef>
                <a:spcPts val="600"/>
              </a:spcBef>
              <a:buClr>
                <a:schemeClr val="accent1"/>
              </a:buClr>
              <a:buSzPct val="80000"/>
              <a:buFont typeface="Wingdings 2"/>
              <a:buChar char=""/>
            </a:pPr>
            <a:r>
              <a:rPr lang="en-IN" sz="2400" dirty="0" smtClean="0"/>
              <a:t>w)(x)		- not balanced</a:t>
            </a:r>
          </a:p>
          <a:p>
            <a:pPr marL="576072" lvl="3" indent="-283464">
              <a:lnSpc>
                <a:spcPct val="110000"/>
              </a:lnSpc>
              <a:spcBef>
                <a:spcPts val="600"/>
              </a:spcBef>
              <a:buClr>
                <a:schemeClr val="accent1"/>
              </a:buClr>
              <a:buSzPct val="80000"/>
              <a:buFont typeface="Wingdings 2"/>
              <a:buChar char=""/>
            </a:pPr>
            <a:r>
              <a:rPr lang="en-IN" sz="2400" dirty="0" smtClean="0"/>
              <a:t>p({(q)r)}		- not balanced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Matching Parentheses</a:t>
            </a:r>
            <a:endParaRPr lang="en-IN" dirty="0"/>
          </a:p>
        </p:txBody>
      </p:sp>
      <p:sp>
        <p:nvSpPr>
          <p:cNvPr id="3" name="Content Placeholder 2"/>
          <p:cNvSpPr>
            <a:spLocks noGrp="1"/>
          </p:cNvSpPr>
          <p:nvPr>
            <p:ph idx="1"/>
          </p:nvPr>
        </p:nvSpPr>
        <p:spPr/>
        <p:txBody>
          <a:bodyPr>
            <a:normAutofit fontScale="77500" lnSpcReduction="20000"/>
          </a:bodyPr>
          <a:lstStyle/>
          <a:p>
            <a:r>
              <a:rPr lang="en-IN" dirty="0" smtClean="0"/>
              <a:t>Scan expression from left to right, one character at a time</a:t>
            </a:r>
          </a:p>
          <a:p>
            <a:pPr>
              <a:buNone/>
            </a:pPr>
            <a:endParaRPr lang="en-IN" dirty="0" smtClean="0"/>
          </a:p>
          <a:p>
            <a:r>
              <a:rPr lang="en-IN" dirty="0" smtClean="0"/>
              <a:t>If left/opening parenthesis, push corresponding closing parenthesis onto the stack</a:t>
            </a:r>
          </a:p>
          <a:p>
            <a:endParaRPr lang="en-IN" dirty="0" smtClean="0"/>
          </a:p>
          <a:p>
            <a:r>
              <a:rPr lang="en-IN" dirty="0" smtClean="0"/>
              <a:t>If right/closing parenthesis then </a:t>
            </a:r>
          </a:p>
          <a:p>
            <a:pPr lvl="1"/>
            <a:r>
              <a:rPr lang="en-IN" dirty="0" smtClean="0"/>
              <a:t>If stack empty then </a:t>
            </a:r>
          </a:p>
          <a:p>
            <a:pPr lvl="2"/>
            <a:r>
              <a:rPr lang="en-IN" sz="2600" dirty="0" smtClean="0"/>
              <a:t>error, exit </a:t>
            </a:r>
          </a:p>
          <a:p>
            <a:pPr lvl="1"/>
            <a:r>
              <a:rPr lang="en-IN" dirty="0" smtClean="0"/>
              <a:t>Else </a:t>
            </a:r>
          </a:p>
          <a:p>
            <a:pPr lvl="2"/>
            <a:r>
              <a:rPr lang="en-IN" sz="2600" dirty="0" smtClean="0"/>
              <a:t>If it matches with the topmost element on the stack then</a:t>
            </a:r>
          </a:p>
          <a:p>
            <a:pPr lvl="3"/>
            <a:r>
              <a:rPr lang="en-IN" sz="2300" dirty="0" smtClean="0"/>
              <a:t>pop stack and continue </a:t>
            </a:r>
          </a:p>
          <a:p>
            <a:pPr lvl="2"/>
            <a:r>
              <a:rPr lang="en-IN" sz="2600" dirty="0" smtClean="0"/>
              <a:t>else </a:t>
            </a:r>
          </a:p>
          <a:p>
            <a:pPr lvl="3"/>
            <a:r>
              <a:rPr lang="en-IN" sz="2300" dirty="0" smtClean="0"/>
              <a:t>report error and exit </a:t>
            </a:r>
            <a:endParaRPr lang="en-IN" sz="23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US" dirty="0"/>
          </a:p>
        </p:txBody>
      </p:sp>
      <p:sp>
        <p:nvSpPr>
          <p:cNvPr id="3" name="Content Placeholder 2"/>
          <p:cNvSpPr>
            <a:spLocks noGrp="1"/>
          </p:cNvSpPr>
          <p:nvPr>
            <p:ph idx="1"/>
          </p:nvPr>
        </p:nvSpPr>
        <p:spPr/>
        <p:txBody>
          <a:bodyPr>
            <a:normAutofit fontScale="25000" lnSpcReduction="20000"/>
          </a:bodyPr>
          <a:lstStyle/>
          <a:p>
            <a:pPr>
              <a:buNone/>
            </a:pPr>
            <a:r>
              <a:rPr lang="en-IN" sz="9600" dirty="0" smtClean="0">
                <a:latin typeface="Times New Roman" pitchFamily="18" charset="0"/>
                <a:cs typeface="Times New Roman" pitchFamily="18" charset="0"/>
              </a:rPr>
              <a:t>To discover whether a string is balanced each character is read in turn. The character is categorized as either an opening parenthesis, a closing parenthesis, or another type of</a:t>
            </a:r>
          </a:p>
          <a:p>
            <a:pPr>
              <a:buNone/>
            </a:pPr>
            <a:r>
              <a:rPr lang="en-IN" sz="9600" dirty="0" smtClean="0">
                <a:latin typeface="Times New Roman" pitchFamily="18" charset="0"/>
                <a:cs typeface="Times New Roman" pitchFamily="18" charset="0"/>
              </a:rPr>
              <a:t>character. Values of the third category are ignored. When a value of the first category is encountered, the corresponding close parenthesis is stored on the stack. For example, when a “(“ is read, the character “)” is pushed on the stack. When a “{“ is encountered, the character pushed is “}”. The topmost element of the stack is therefore the closing value we expect to see in a well balanced expression. When a closing character is encountered, it is compared to the topmost item in the stack. If they match, the top of the stack is popped and execution continues with the next character. If they do not match an</a:t>
            </a:r>
          </a:p>
          <a:p>
            <a:pPr>
              <a:buNone/>
            </a:pPr>
            <a:r>
              <a:rPr lang="en-IN" sz="9600" dirty="0" smtClean="0">
                <a:latin typeface="Times New Roman" pitchFamily="18" charset="0"/>
                <a:cs typeface="Times New Roman" pitchFamily="18" charset="0"/>
              </a:rPr>
              <a:t>error is reported. An error is also reported if a closing character is read and the stack is empty. If the stack is empty when the end of the expression is reached then the expression is well balanced.</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IN" dirty="0"/>
          </a:p>
        </p:txBody>
      </p:sp>
      <p:sp>
        <p:nvSpPr>
          <p:cNvPr id="3" name="Content Placeholder 2"/>
          <p:cNvSpPr>
            <a:spLocks noGrp="1"/>
          </p:cNvSpPr>
          <p:nvPr>
            <p:ph idx="1"/>
          </p:nvPr>
        </p:nvSpPr>
        <p:spPr/>
        <p:txBody>
          <a:bodyPr/>
          <a:lstStyle/>
          <a:p>
            <a:r>
              <a:rPr lang="pt-BR" dirty="0" smtClean="0"/>
              <a:t>Draw the status of the stack for following cases:</a:t>
            </a:r>
          </a:p>
          <a:p>
            <a:pPr>
              <a:buNone/>
            </a:pPr>
            <a:endParaRPr lang="pt-BR" dirty="0" smtClean="0"/>
          </a:p>
          <a:p>
            <a:pPr lvl="1"/>
            <a:r>
              <a:rPr lang="pt-BR" sz="3200" dirty="0" smtClean="0"/>
              <a:t>a ( b { d e [ f ] g { h } I } j k ) l m</a:t>
            </a:r>
          </a:p>
          <a:p>
            <a:pPr lvl="1"/>
            <a:endParaRPr lang="pt-BR" sz="3200" dirty="0" smtClean="0"/>
          </a:p>
          <a:p>
            <a:pPr lvl="1"/>
            <a:r>
              <a:rPr lang="en-IN" sz="3200" dirty="0" smtClean="0"/>
              <a:t>( a b { c } d ( [ e [ f ] g ] ) ( j ) )</a:t>
            </a:r>
            <a:endParaRPr lang="en-IN"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IN" dirty="0"/>
          </a:p>
        </p:txBody>
      </p:sp>
      <p:sp>
        <p:nvSpPr>
          <p:cNvPr id="3" name="Content Placeholder 2"/>
          <p:cNvSpPr>
            <a:spLocks noGrp="1"/>
          </p:cNvSpPr>
          <p:nvPr>
            <p:ph idx="1"/>
          </p:nvPr>
        </p:nvSpPr>
        <p:spPr>
          <a:xfrm>
            <a:off x="1219200" y="1447800"/>
            <a:ext cx="7498080" cy="1066800"/>
          </a:xfrm>
        </p:spPr>
        <p:txBody>
          <a:bodyPr>
            <a:normAutofit/>
          </a:bodyPr>
          <a:lstStyle/>
          <a:p>
            <a:pPr marL="365760" lvl="1" indent="-283464">
              <a:spcBef>
                <a:spcPts val="600"/>
              </a:spcBef>
              <a:buSzPct val="80000"/>
            </a:pPr>
            <a:r>
              <a:rPr lang="en-IN" dirty="0" smtClean="0"/>
              <a:t>Reading  the string, </a:t>
            </a:r>
            <a:r>
              <a:rPr lang="en-IN" sz="2800" dirty="0" smtClean="0"/>
              <a:t>from Left to Right, the status of stack is:</a:t>
            </a:r>
          </a:p>
          <a:p>
            <a:pPr>
              <a:buNone/>
            </a:pPr>
            <a:endParaRPr lang="en-IN" sz="2800" dirty="0" smtClean="0"/>
          </a:p>
          <a:p>
            <a:pPr>
              <a:buNone/>
            </a:pPr>
            <a:endParaRPr lang="en-IN" sz="2800" dirty="0"/>
          </a:p>
        </p:txBody>
      </p:sp>
      <p:grpSp>
        <p:nvGrpSpPr>
          <p:cNvPr id="4" name="Group 9"/>
          <p:cNvGrpSpPr/>
          <p:nvPr/>
        </p:nvGrpSpPr>
        <p:grpSpPr>
          <a:xfrm>
            <a:off x="1599406" y="4113212"/>
            <a:ext cx="610394" cy="2058988"/>
            <a:chOff x="1599406" y="3429000"/>
            <a:chExt cx="610394" cy="2058988"/>
          </a:xfrm>
        </p:grpSpPr>
        <p:cxnSp>
          <p:nvCxnSpPr>
            <p:cNvPr id="5" name="Straight Connector 4"/>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 name="Rectangle 10"/>
          <p:cNvSpPr/>
          <p:nvPr/>
        </p:nvSpPr>
        <p:spPr>
          <a:xfrm>
            <a:off x="1676400" y="56388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sp>
        <p:nvSpPr>
          <p:cNvPr id="12" name="Rectangle 11"/>
          <p:cNvSpPr/>
          <p:nvPr/>
        </p:nvSpPr>
        <p:spPr>
          <a:xfrm>
            <a:off x="1600200" y="2590800"/>
            <a:ext cx="6934200" cy="707886"/>
          </a:xfrm>
          <a:prstGeom prst="rect">
            <a:avLst/>
          </a:prstGeom>
          <a:ln w="0">
            <a:noFill/>
          </a:ln>
        </p:spPr>
        <p:txBody>
          <a:bodyPr wrap="square">
            <a:spAutoFit/>
          </a:bodyPr>
          <a:lstStyle/>
          <a:p>
            <a:r>
              <a:rPr lang="pt-BR" sz="4000" dirty="0" smtClean="0"/>
              <a:t>a ( b { d e [ f ] g { h } I } j k ) l m</a:t>
            </a:r>
            <a:endParaRPr lang="en-IN" sz="4000" dirty="0"/>
          </a:p>
        </p:txBody>
      </p:sp>
      <p:sp>
        <p:nvSpPr>
          <p:cNvPr id="13" name="Rectangle 12"/>
          <p:cNvSpPr/>
          <p:nvPr/>
        </p:nvSpPr>
        <p:spPr>
          <a:xfrm>
            <a:off x="16002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9812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27"/>
          <p:cNvGrpSpPr/>
          <p:nvPr/>
        </p:nvGrpSpPr>
        <p:grpSpPr>
          <a:xfrm>
            <a:off x="2667000" y="4114800"/>
            <a:ext cx="610394" cy="2058988"/>
            <a:chOff x="2667000" y="4114800"/>
            <a:chExt cx="610394" cy="2058988"/>
          </a:xfrm>
        </p:grpSpPr>
        <p:grpSp>
          <p:nvGrpSpPr>
            <p:cNvPr id="8" name="Group 14"/>
            <p:cNvGrpSpPr/>
            <p:nvPr/>
          </p:nvGrpSpPr>
          <p:grpSpPr>
            <a:xfrm>
              <a:off x="2667000" y="4114800"/>
              <a:ext cx="610394" cy="2058988"/>
              <a:chOff x="1599406" y="3429000"/>
              <a:chExt cx="610394" cy="2058988"/>
            </a:xfrm>
          </p:grpSpPr>
          <p:cxnSp>
            <p:nvCxnSpPr>
              <p:cNvPr id="16" name="Straight Connector 15"/>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2743994" y="5640388"/>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t>)</a:t>
              </a:r>
              <a:endParaRPr lang="en-IN" dirty="0"/>
            </a:p>
          </p:txBody>
        </p:sp>
        <p:sp>
          <p:nvSpPr>
            <p:cNvPr id="25" name="Rectangle 24"/>
            <p:cNvSpPr/>
            <p:nvPr/>
          </p:nvSpPr>
          <p:spPr>
            <a:xfrm>
              <a:off x="2743200" y="51054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grpSp>
      <p:sp>
        <p:nvSpPr>
          <p:cNvPr id="26" name="Rectangle 25"/>
          <p:cNvSpPr/>
          <p:nvPr/>
        </p:nvSpPr>
        <p:spPr>
          <a:xfrm>
            <a:off x="2286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25908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p:cNvSpPr/>
          <p:nvPr/>
        </p:nvSpPr>
        <p:spPr>
          <a:xfrm>
            <a:off x="3048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p:cNvSpPr/>
          <p:nvPr/>
        </p:nvSpPr>
        <p:spPr>
          <a:xfrm>
            <a:off x="33528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37338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34"/>
          <p:cNvGrpSpPr/>
          <p:nvPr/>
        </p:nvGrpSpPr>
        <p:grpSpPr>
          <a:xfrm>
            <a:off x="3656806" y="4114800"/>
            <a:ext cx="610394" cy="2058988"/>
            <a:chOff x="3656806" y="4114800"/>
            <a:chExt cx="610394" cy="2058988"/>
          </a:xfrm>
        </p:grpSpPr>
        <p:grpSp>
          <p:nvGrpSpPr>
            <p:cNvPr id="15" name="Group 19"/>
            <p:cNvGrpSpPr/>
            <p:nvPr/>
          </p:nvGrpSpPr>
          <p:grpSpPr>
            <a:xfrm>
              <a:off x="3656806" y="4114800"/>
              <a:ext cx="610394" cy="2058988"/>
              <a:chOff x="1599406" y="3429000"/>
              <a:chExt cx="610394" cy="2058988"/>
            </a:xfrm>
          </p:grpSpPr>
          <p:cxnSp>
            <p:nvCxnSpPr>
              <p:cNvPr id="21" name="Straight Connector 20"/>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Rectangle 23"/>
            <p:cNvSpPr/>
            <p:nvPr/>
          </p:nvSpPr>
          <p:spPr>
            <a:xfrm>
              <a:off x="3733800" y="5640388"/>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t>)</a:t>
              </a:r>
              <a:endParaRPr lang="en-IN" dirty="0"/>
            </a:p>
          </p:txBody>
        </p:sp>
        <p:sp>
          <p:nvSpPr>
            <p:cNvPr id="33" name="Rectangle 32"/>
            <p:cNvSpPr/>
            <p:nvPr/>
          </p:nvSpPr>
          <p:spPr>
            <a:xfrm>
              <a:off x="3733800" y="51054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sp>
          <p:nvSpPr>
            <p:cNvPr id="34" name="Rectangle 33"/>
            <p:cNvSpPr/>
            <p:nvPr/>
          </p:nvSpPr>
          <p:spPr>
            <a:xfrm>
              <a:off x="3733800" y="45720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grpSp>
      <p:sp>
        <p:nvSpPr>
          <p:cNvPr id="36" name="Rectangle 35"/>
          <p:cNvSpPr/>
          <p:nvPr/>
        </p:nvSpPr>
        <p:spPr>
          <a:xfrm>
            <a:off x="39624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traight Arrow Connector 38"/>
          <p:cNvCxnSpPr/>
          <p:nvPr/>
        </p:nvCxnSpPr>
        <p:spPr>
          <a:xfrm rot="5400000">
            <a:off x="3733800" y="3657600"/>
            <a:ext cx="1066800" cy="4572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pSp>
        <p:nvGrpSpPr>
          <p:cNvPr id="20" name="Group 39"/>
          <p:cNvGrpSpPr/>
          <p:nvPr/>
        </p:nvGrpSpPr>
        <p:grpSpPr>
          <a:xfrm>
            <a:off x="4495006" y="4113212"/>
            <a:ext cx="610394" cy="2058988"/>
            <a:chOff x="2667000" y="4114800"/>
            <a:chExt cx="610394" cy="2058988"/>
          </a:xfrm>
        </p:grpSpPr>
        <p:grpSp>
          <p:nvGrpSpPr>
            <p:cNvPr id="28" name="Group 14"/>
            <p:cNvGrpSpPr/>
            <p:nvPr/>
          </p:nvGrpSpPr>
          <p:grpSpPr>
            <a:xfrm>
              <a:off x="2667000" y="4114800"/>
              <a:ext cx="610394" cy="2058988"/>
              <a:chOff x="1599406" y="3429000"/>
              <a:chExt cx="610394" cy="2058988"/>
            </a:xfrm>
          </p:grpSpPr>
          <p:cxnSp>
            <p:nvCxnSpPr>
              <p:cNvPr id="44" name="Straight Connector 43"/>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42" name="Rectangle 41"/>
            <p:cNvSpPr/>
            <p:nvPr/>
          </p:nvSpPr>
          <p:spPr>
            <a:xfrm>
              <a:off x="2743994" y="5640388"/>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t>)</a:t>
              </a:r>
              <a:endParaRPr lang="en-IN" dirty="0"/>
            </a:p>
          </p:txBody>
        </p:sp>
        <p:sp>
          <p:nvSpPr>
            <p:cNvPr id="43" name="Rectangle 42"/>
            <p:cNvSpPr/>
            <p:nvPr/>
          </p:nvSpPr>
          <p:spPr>
            <a:xfrm>
              <a:off x="2743200" y="51054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grpSp>
      <p:sp>
        <p:nvSpPr>
          <p:cNvPr id="47" name="Rectangle 46"/>
          <p:cNvSpPr/>
          <p:nvPr/>
        </p:nvSpPr>
        <p:spPr>
          <a:xfrm>
            <a:off x="4191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p:cNvSpPr/>
          <p:nvPr/>
        </p:nvSpPr>
        <p:spPr>
          <a:xfrm>
            <a:off x="4572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p:cNvSpPr/>
          <p:nvPr/>
        </p:nvSpPr>
        <p:spPr>
          <a:xfrm>
            <a:off x="4953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2" name="Group 49"/>
          <p:cNvGrpSpPr/>
          <p:nvPr/>
        </p:nvGrpSpPr>
        <p:grpSpPr>
          <a:xfrm>
            <a:off x="5333206" y="4114800"/>
            <a:ext cx="610394" cy="2058988"/>
            <a:chOff x="3656806" y="4114800"/>
            <a:chExt cx="610394" cy="2058988"/>
          </a:xfrm>
        </p:grpSpPr>
        <p:grpSp>
          <p:nvGrpSpPr>
            <p:cNvPr id="35" name="Group 19"/>
            <p:cNvGrpSpPr/>
            <p:nvPr/>
          </p:nvGrpSpPr>
          <p:grpSpPr>
            <a:xfrm>
              <a:off x="3656806" y="4114800"/>
              <a:ext cx="610394" cy="2058988"/>
              <a:chOff x="1599406" y="3429000"/>
              <a:chExt cx="610394" cy="2058988"/>
            </a:xfrm>
          </p:grpSpPr>
          <p:cxnSp>
            <p:nvCxnSpPr>
              <p:cNvPr id="55" name="Straight Connector 54"/>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52" name="Rectangle 51"/>
            <p:cNvSpPr/>
            <p:nvPr/>
          </p:nvSpPr>
          <p:spPr>
            <a:xfrm>
              <a:off x="3733800" y="5640388"/>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t>)</a:t>
              </a:r>
              <a:endParaRPr lang="en-IN" dirty="0"/>
            </a:p>
          </p:txBody>
        </p:sp>
        <p:sp>
          <p:nvSpPr>
            <p:cNvPr id="53" name="Rectangle 52"/>
            <p:cNvSpPr/>
            <p:nvPr/>
          </p:nvSpPr>
          <p:spPr>
            <a:xfrm>
              <a:off x="3733800" y="51054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sp>
          <p:nvSpPr>
            <p:cNvPr id="54" name="Rectangle 53"/>
            <p:cNvSpPr/>
            <p:nvPr/>
          </p:nvSpPr>
          <p:spPr>
            <a:xfrm>
              <a:off x="3733800" y="45720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grpSp>
      <p:sp>
        <p:nvSpPr>
          <p:cNvPr id="58" name="Rectangle 57"/>
          <p:cNvSpPr/>
          <p:nvPr/>
        </p:nvSpPr>
        <p:spPr>
          <a:xfrm>
            <a:off x="5334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1" name="Straight Arrow Connector 60"/>
          <p:cNvCxnSpPr>
            <a:endCxn id="54" idx="0"/>
          </p:cNvCxnSpPr>
          <p:nvPr/>
        </p:nvCxnSpPr>
        <p:spPr>
          <a:xfrm rot="5400000">
            <a:off x="5067300" y="3848100"/>
            <a:ext cx="1295400" cy="1524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pSp>
        <p:nvGrpSpPr>
          <p:cNvPr id="37" name="Group 61"/>
          <p:cNvGrpSpPr/>
          <p:nvPr/>
        </p:nvGrpSpPr>
        <p:grpSpPr>
          <a:xfrm>
            <a:off x="6171406" y="4114800"/>
            <a:ext cx="610394" cy="2058988"/>
            <a:chOff x="2667000" y="4114800"/>
            <a:chExt cx="610394" cy="2058988"/>
          </a:xfrm>
        </p:grpSpPr>
        <p:grpSp>
          <p:nvGrpSpPr>
            <p:cNvPr id="38" name="Group 14"/>
            <p:cNvGrpSpPr/>
            <p:nvPr/>
          </p:nvGrpSpPr>
          <p:grpSpPr>
            <a:xfrm>
              <a:off x="2667000" y="4114800"/>
              <a:ext cx="610394" cy="2058988"/>
              <a:chOff x="1599406" y="3429000"/>
              <a:chExt cx="610394" cy="2058988"/>
            </a:xfrm>
          </p:grpSpPr>
          <p:cxnSp>
            <p:nvCxnSpPr>
              <p:cNvPr id="66" name="Straight Connector 65"/>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64" name="Rectangle 63"/>
            <p:cNvSpPr/>
            <p:nvPr/>
          </p:nvSpPr>
          <p:spPr>
            <a:xfrm>
              <a:off x="2743994" y="5640388"/>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t>)</a:t>
              </a:r>
              <a:endParaRPr lang="en-IN" dirty="0"/>
            </a:p>
          </p:txBody>
        </p:sp>
        <p:sp>
          <p:nvSpPr>
            <p:cNvPr id="65" name="Rectangle 64"/>
            <p:cNvSpPr/>
            <p:nvPr/>
          </p:nvSpPr>
          <p:spPr>
            <a:xfrm>
              <a:off x="2743200" y="51054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grpSp>
      <p:sp>
        <p:nvSpPr>
          <p:cNvPr id="69" name="Rectangle 68"/>
          <p:cNvSpPr/>
          <p:nvPr/>
        </p:nvSpPr>
        <p:spPr>
          <a:xfrm>
            <a:off x="56388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ectangle 69"/>
          <p:cNvSpPr/>
          <p:nvPr/>
        </p:nvSpPr>
        <p:spPr>
          <a:xfrm>
            <a:off x="58674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2" name="Straight Arrow Connector 71"/>
          <p:cNvCxnSpPr/>
          <p:nvPr/>
        </p:nvCxnSpPr>
        <p:spPr>
          <a:xfrm rot="5400000">
            <a:off x="5562600" y="4114800"/>
            <a:ext cx="16764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61722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0" name="Group 90"/>
          <p:cNvGrpSpPr/>
          <p:nvPr/>
        </p:nvGrpSpPr>
        <p:grpSpPr>
          <a:xfrm>
            <a:off x="6858000" y="4114800"/>
            <a:ext cx="610394" cy="2058988"/>
            <a:chOff x="6858000" y="4114800"/>
            <a:chExt cx="610394" cy="2058988"/>
          </a:xfrm>
        </p:grpSpPr>
        <p:grpSp>
          <p:nvGrpSpPr>
            <p:cNvPr id="41" name="Group 73"/>
            <p:cNvGrpSpPr/>
            <p:nvPr/>
          </p:nvGrpSpPr>
          <p:grpSpPr>
            <a:xfrm>
              <a:off x="6858000" y="4114800"/>
              <a:ext cx="610394" cy="2058988"/>
              <a:chOff x="1599406" y="3429000"/>
              <a:chExt cx="610394" cy="2058988"/>
            </a:xfrm>
          </p:grpSpPr>
          <p:cxnSp>
            <p:nvCxnSpPr>
              <p:cNvPr id="75" name="Straight Connector 74"/>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78" name="Rectangle 77"/>
            <p:cNvSpPr/>
            <p:nvPr/>
          </p:nvSpPr>
          <p:spPr>
            <a:xfrm>
              <a:off x="6934994" y="5640388"/>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t>
              </a:r>
              <a:endParaRPr lang="en-IN" dirty="0"/>
            </a:p>
          </p:txBody>
        </p:sp>
      </p:grpSp>
      <p:sp>
        <p:nvSpPr>
          <p:cNvPr id="79" name="Rectangle 78"/>
          <p:cNvSpPr/>
          <p:nvPr/>
        </p:nvSpPr>
        <p:spPr>
          <a:xfrm>
            <a:off x="65532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Rectangle 79"/>
          <p:cNvSpPr/>
          <p:nvPr/>
        </p:nvSpPr>
        <p:spPr>
          <a:xfrm>
            <a:off x="68580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Arrow Connector 81"/>
          <p:cNvCxnSpPr/>
          <p:nvPr/>
        </p:nvCxnSpPr>
        <p:spPr>
          <a:xfrm rot="5400000">
            <a:off x="6172200" y="4419600"/>
            <a:ext cx="2209800" cy="762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pSp>
        <p:nvGrpSpPr>
          <p:cNvPr id="50" name="Group 83"/>
          <p:cNvGrpSpPr/>
          <p:nvPr/>
        </p:nvGrpSpPr>
        <p:grpSpPr>
          <a:xfrm>
            <a:off x="7695406" y="4114800"/>
            <a:ext cx="610394" cy="2058988"/>
            <a:chOff x="1599406" y="3429000"/>
            <a:chExt cx="610394" cy="2058988"/>
          </a:xfrm>
        </p:grpSpPr>
        <p:cxnSp>
          <p:nvCxnSpPr>
            <p:cNvPr id="85" name="Straight Connector 84"/>
            <p:cNvCxnSpPr/>
            <p:nvPr/>
          </p:nvCxnSpPr>
          <p:spPr>
            <a:xfrm rot="5400000">
              <a:off x="571500" y="4457700"/>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1180306" y="4456906"/>
              <a:ext cx="2057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600200" y="5486400"/>
              <a:ext cx="6096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88" name="Rectangle 87"/>
          <p:cNvSpPr/>
          <p:nvPr/>
        </p:nvSpPr>
        <p:spPr>
          <a:xfrm>
            <a:off x="71628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Rectangle 88"/>
          <p:cNvSpPr/>
          <p:nvPr/>
        </p:nvSpPr>
        <p:spPr>
          <a:xfrm>
            <a:off x="74676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Rectangle 89"/>
          <p:cNvSpPr/>
          <p:nvPr/>
        </p:nvSpPr>
        <p:spPr>
          <a:xfrm>
            <a:off x="7848600" y="2743200"/>
            <a:ext cx="381000" cy="5334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ox(in)">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ox(in)">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ox(i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box(in)">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box(in)">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box(in)">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box(in)">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box(in)">
                                      <p:cBhvr>
                                        <p:cTn id="57" dur="50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linds(horizontal)">
                                      <p:cBhvr>
                                        <p:cTn id="62" dur="5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box(in)">
                                      <p:cBhvr>
                                        <p:cTn id="67" dur="500"/>
                                        <p:tgtEl>
                                          <p:spTgt spid="47"/>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box(in)">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xit" presetSubtype="10" fill="hold" nodeType="clickEffect">
                                  <p:stCondLst>
                                    <p:cond delay="0"/>
                                  </p:stCondLst>
                                  <p:childTnLst>
                                    <p:animEffect transition="out" filter="blinds(horizontal)">
                                      <p:cBhvr>
                                        <p:cTn id="76" dur="500"/>
                                        <p:tgtEl>
                                          <p:spTgt spid="39"/>
                                        </p:tgtEl>
                                      </p:cBhvr>
                                    </p:animEffect>
                                    <p:set>
                                      <p:cBhvr>
                                        <p:cTn id="77" dur="1" fill="hold">
                                          <p:stCondLst>
                                            <p:cond delay="499"/>
                                          </p:stCondLst>
                                        </p:cTn>
                                        <p:tgtEl>
                                          <p:spTgt spid="39"/>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box(in)">
                                      <p:cBhvr>
                                        <p:cTn id="82" dur="500"/>
                                        <p:tgtEl>
                                          <p:spTgt spid="48"/>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box(in)">
                                      <p:cBhvr>
                                        <p:cTn id="87" dur="500"/>
                                        <p:tgtEl>
                                          <p:spTgt spid="49"/>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box(in)">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grpId="0" nodeType="click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box(in)">
                                      <p:cBhvr>
                                        <p:cTn id="97" dur="500"/>
                                        <p:tgtEl>
                                          <p:spTgt spid="58"/>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blinds(horizontal)">
                                      <p:cBhvr>
                                        <p:cTn id="102" dur="500"/>
                                        <p:tgtEl>
                                          <p:spTgt spid="61"/>
                                        </p:tgtEl>
                                      </p:cBhvr>
                                    </p:animEffect>
                                  </p:childTnLst>
                                </p:cTn>
                              </p:par>
                            </p:childTnLst>
                          </p:cTn>
                        </p:par>
                      </p:childTnLst>
                    </p:cTn>
                  </p:par>
                  <p:par>
                    <p:cTn id="103" fill="hold">
                      <p:stCondLst>
                        <p:cond delay="indefinite"/>
                      </p:stCondLst>
                      <p:childTnLst>
                        <p:par>
                          <p:cTn id="104" fill="hold">
                            <p:stCondLst>
                              <p:cond delay="0"/>
                            </p:stCondLst>
                            <p:childTnLst>
                              <p:par>
                                <p:cTn id="105" presetID="4" presetClass="entr" presetSubtype="16" fill="hold" grpId="0" nodeType="clickEffect">
                                  <p:stCondLst>
                                    <p:cond delay="0"/>
                                  </p:stCondLst>
                                  <p:childTnLst>
                                    <p:set>
                                      <p:cBhvr>
                                        <p:cTn id="106" dur="1" fill="hold">
                                          <p:stCondLst>
                                            <p:cond delay="0"/>
                                          </p:stCondLst>
                                        </p:cTn>
                                        <p:tgtEl>
                                          <p:spTgt spid="69"/>
                                        </p:tgtEl>
                                        <p:attrNameLst>
                                          <p:attrName>style.visibility</p:attrName>
                                        </p:attrNameLst>
                                      </p:cBhvr>
                                      <p:to>
                                        <p:strVal val="visible"/>
                                      </p:to>
                                    </p:set>
                                    <p:animEffect transition="in" filter="box(in)">
                                      <p:cBhvr>
                                        <p:cTn id="107" dur="500"/>
                                        <p:tgtEl>
                                          <p:spTgt spid="69"/>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xit" presetSubtype="10" fill="hold" nodeType="clickEffect">
                                  <p:stCondLst>
                                    <p:cond delay="0"/>
                                  </p:stCondLst>
                                  <p:childTnLst>
                                    <p:animEffect transition="out" filter="blinds(horizontal)">
                                      <p:cBhvr>
                                        <p:cTn id="111" dur="500"/>
                                        <p:tgtEl>
                                          <p:spTgt spid="61"/>
                                        </p:tgtEl>
                                      </p:cBhvr>
                                    </p:animEffect>
                                    <p:set>
                                      <p:cBhvr>
                                        <p:cTn id="112" dur="1" fill="hold">
                                          <p:stCondLst>
                                            <p:cond delay="499"/>
                                          </p:stCondLst>
                                        </p:cTn>
                                        <p:tgtEl>
                                          <p:spTgt spid="6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4" presetClass="entr" presetSubtype="16" fill="hold" nodeType="clickEffect">
                                  <p:stCondLst>
                                    <p:cond delay="0"/>
                                  </p:stCondLst>
                                  <p:childTnLst>
                                    <p:set>
                                      <p:cBhvr>
                                        <p:cTn id="116" dur="1" fill="hold">
                                          <p:stCondLst>
                                            <p:cond delay="0"/>
                                          </p:stCondLst>
                                        </p:cTn>
                                        <p:tgtEl>
                                          <p:spTgt spid="37"/>
                                        </p:tgtEl>
                                        <p:attrNameLst>
                                          <p:attrName>style.visibility</p:attrName>
                                        </p:attrNameLst>
                                      </p:cBhvr>
                                      <p:to>
                                        <p:strVal val="visible"/>
                                      </p:to>
                                    </p:set>
                                    <p:animEffect transition="in" filter="box(in)">
                                      <p:cBhvr>
                                        <p:cTn id="117" dur="500"/>
                                        <p:tgtEl>
                                          <p:spTgt spid="37"/>
                                        </p:tgtEl>
                                      </p:cBhvr>
                                    </p:animEffect>
                                  </p:child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grpId="0" nodeType="clickEffect">
                                  <p:stCondLst>
                                    <p:cond delay="0"/>
                                  </p:stCondLst>
                                  <p:childTnLst>
                                    <p:set>
                                      <p:cBhvr>
                                        <p:cTn id="121" dur="1" fill="hold">
                                          <p:stCondLst>
                                            <p:cond delay="0"/>
                                          </p:stCondLst>
                                        </p:cTn>
                                        <p:tgtEl>
                                          <p:spTgt spid="70"/>
                                        </p:tgtEl>
                                        <p:attrNameLst>
                                          <p:attrName>style.visibility</p:attrName>
                                        </p:attrNameLst>
                                      </p:cBhvr>
                                      <p:to>
                                        <p:strVal val="visible"/>
                                      </p:to>
                                    </p:set>
                                    <p:animEffect transition="in" filter="box(in)">
                                      <p:cBhvr>
                                        <p:cTn id="122" dur="500"/>
                                        <p:tgtEl>
                                          <p:spTgt spid="70"/>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72"/>
                                        </p:tgtEl>
                                        <p:attrNameLst>
                                          <p:attrName>style.visibility</p:attrName>
                                        </p:attrNameLst>
                                      </p:cBhvr>
                                      <p:to>
                                        <p:strVal val="visible"/>
                                      </p:to>
                                    </p:set>
                                    <p:animEffect transition="in" filter="blinds(horizontal)">
                                      <p:cBhvr>
                                        <p:cTn id="127" dur="500"/>
                                        <p:tgtEl>
                                          <p:spTgt spid="72"/>
                                        </p:tgtEl>
                                      </p:cBhvr>
                                    </p:animEffect>
                                  </p:childTnLst>
                                </p:cTn>
                              </p:par>
                            </p:childTnLst>
                          </p:cTn>
                        </p:par>
                      </p:childTnLst>
                    </p:cTn>
                  </p:par>
                  <p:par>
                    <p:cTn id="128" fill="hold">
                      <p:stCondLst>
                        <p:cond delay="indefinite"/>
                      </p:stCondLst>
                      <p:childTnLst>
                        <p:par>
                          <p:cTn id="129" fill="hold">
                            <p:stCondLst>
                              <p:cond delay="0"/>
                            </p:stCondLst>
                            <p:childTnLst>
                              <p:par>
                                <p:cTn id="130" presetID="4" presetClass="entr" presetSubtype="16" fill="hold" grpId="0" nodeType="clickEffect">
                                  <p:stCondLst>
                                    <p:cond delay="0"/>
                                  </p:stCondLst>
                                  <p:childTnLst>
                                    <p:set>
                                      <p:cBhvr>
                                        <p:cTn id="131" dur="1" fill="hold">
                                          <p:stCondLst>
                                            <p:cond delay="0"/>
                                          </p:stCondLst>
                                        </p:cTn>
                                        <p:tgtEl>
                                          <p:spTgt spid="73"/>
                                        </p:tgtEl>
                                        <p:attrNameLst>
                                          <p:attrName>style.visibility</p:attrName>
                                        </p:attrNameLst>
                                      </p:cBhvr>
                                      <p:to>
                                        <p:strVal val="visible"/>
                                      </p:to>
                                    </p:set>
                                    <p:animEffect transition="in" filter="box(in)">
                                      <p:cBhvr>
                                        <p:cTn id="132" dur="500"/>
                                        <p:tgtEl>
                                          <p:spTgt spid="73"/>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xit" presetSubtype="10" fill="hold" nodeType="clickEffect">
                                  <p:stCondLst>
                                    <p:cond delay="0"/>
                                  </p:stCondLst>
                                  <p:childTnLst>
                                    <p:animEffect transition="out" filter="blinds(horizontal)">
                                      <p:cBhvr>
                                        <p:cTn id="136" dur="500"/>
                                        <p:tgtEl>
                                          <p:spTgt spid="72"/>
                                        </p:tgtEl>
                                      </p:cBhvr>
                                    </p:animEffect>
                                    <p:set>
                                      <p:cBhvr>
                                        <p:cTn id="137" dur="1" fill="hold">
                                          <p:stCondLst>
                                            <p:cond delay="499"/>
                                          </p:stCondLst>
                                        </p:cTn>
                                        <p:tgtEl>
                                          <p:spTgt spid="72"/>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blinds(horizontal)">
                                      <p:cBhvr>
                                        <p:cTn id="142" dur="500"/>
                                        <p:tgtEl>
                                          <p:spTgt spid="40"/>
                                        </p:tgtEl>
                                      </p:cBhvr>
                                    </p:animEffect>
                                  </p:childTnLst>
                                </p:cTn>
                              </p:par>
                            </p:childTnLst>
                          </p:cTn>
                        </p:par>
                      </p:childTnLst>
                    </p:cTn>
                  </p:par>
                  <p:par>
                    <p:cTn id="143" fill="hold">
                      <p:stCondLst>
                        <p:cond delay="indefinite"/>
                      </p:stCondLst>
                      <p:childTnLst>
                        <p:par>
                          <p:cTn id="144" fill="hold">
                            <p:stCondLst>
                              <p:cond delay="0"/>
                            </p:stCondLst>
                            <p:childTnLst>
                              <p:par>
                                <p:cTn id="145" presetID="4" presetClass="entr" presetSubtype="16" fill="hold" grpId="0" nodeType="clickEffect">
                                  <p:stCondLst>
                                    <p:cond delay="0"/>
                                  </p:stCondLst>
                                  <p:childTnLst>
                                    <p:set>
                                      <p:cBhvr>
                                        <p:cTn id="146" dur="1" fill="hold">
                                          <p:stCondLst>
                                            <p:cond delay="0"/>
                                          </p:stCondLst>
                                        </p:cTn>
                                        <p:tgtEl>
                                          <p:spTgt spid="79"/>
                                        </p:tgtEl>
                                        <p:attrNameLst>
                                          <p:attrName>style.visibility</p:attrName>
                                        </p:attrNameLst>
                                      </p:cBhvr>
                                      <p:to>
                                        <p:strVal val="visible"/>
                                      </p:to>
                                    </p:set>
                                    <p:animEffect transition="in" filter="box(in)">
                                      <p:cBhvr>
                                        <p:cTn id="147" dur="500"/>
                                        <p:tgtEl>
                                          <p:spTgt spid="79"/>
                                        </p:tgtEl>
                                      </p:cBhvr>
                                    </p:animEffect>
                                  </p:childTnLst>
                                </p:cTn>
                              </p:par>
                            </p:childTnLst>
                          </p:cTn>
                        </p:par>
                      </p:childTnLst>
                    </p:cTn>
                  </p:par>
                  <p:par>
                    <p:cTn id="148" fill="hold">
                      <p:stCondLst>
                        <p:cond delay="indefinite"/>
                      </p:stCondLst>
                      <p:childTnLst>
                        <p:par>
                          <p:cTn id="149" fill="hold">
                            <p:stCondLst>
                              <p:cond delay="0"/>
                            </p:stCondLst>
                            <p:childTnLst>
                              <p:par>
                                <p:cTn id="150" presetID="4" presetClass="entr" presetSubtype="16" fill="hold" grpId="0" nodeType="clickEffect">
                                  <p:stCondLst>
                                    <p:cond delay="0"/>
                                  </p:stCondLst>
                                  <p:childTnLst>
                                    <p:set>
                                      <p:cBhvr>
                                        <p:cTn id="151" dur="1" fill="hold">
                                          <p:stCondLst>
                                            <p:cond delay="0"/>
                                          </p:stCondLst>
                                        </p:cTn>
                                        <p:tgtEl>
                                          <p:spTgt spid="80"/>
                                        </p:tgtEl>
                                        <p:attrNameLst>
                                          <p:attrName>style.visibility</p:attrName>
                                        </p:attrNameLst>
                                      </p:cBhvr>
                                      <p:to>
                                        <p:strVal val="visible"/>
                                      </p:to>
                                    </p:set>
                                    <p:animEffect transition="in" filter="box(in)">
                                      <p:cBhvr>
                                        <p:cTn id="152" dur="500"/>
                                        <p:tgtEl>
                                          <p:spTgt spid="80"/>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82"/>
                                        </p:tgtEl>
                                        <p:attrNameLst>
                                          <p:attrName>style.visibility</p:attrName>
                                        </p:attrNameLst>
                                      </p:cBhvr>
                                      <p:to>
                                        <p:strVal val="visible"/>
                                      </p:to>
                                    </p:set>
                                    <p:animEffect transition="in" filter="blinds(horizontal)">
                                      <p:cBhvr>
                                        <p:cTn id="157" dur="500"/>
                                        <p:tgtEl>
                                          <p:spTgt spid="82"/>
                                        </p:tgtEl>
                                      </p:cBhvr>
                                    </p:animEffect>
                                  </p:childTnLst>
                                </p:cTn>
                              </p:par>
                            </p:childTnLst>
                          </p:cTn>
                        </p:par>
                      </p:childTnLst>
                    </p:cTn>
                  </p:par>
                  <p:par>
                    <p:cTn id="158" fill="hold">
                      <p:stCondLst>
                        <p:cond delay="indefinite"/>
                      </p:stCondLst>
                      <p:childTnLst>
                        <p:par>
                          <p:cTn id="159" fill="hold">
                            <p:stCondLst>
                              <p:cond delay="0"/>
                            </p:stCondLst>
                            <p:childTnLst>
                              <p:par>
                                <p:cTn id="160" presetID="4" presetClass="entr" presetSubtype="16" fill="hold" grpId="0" nodeType="clickEffect">
                                  <p:stCondLst>
                                    <p:cond delay="0"/>
                                  </p:stCondLst>
                                  <p:childTnLst>
                                    <p:set>
                                      <p:cBhvr>
                                        <p:cTn id="161" dur="1" fill="hold">
                                          <p:stCondLst>
                                            <p:cond delay="0"/>
                                          </p:stCondLst>
                                        </p:cTn>
                                        <p:tgtEl>
                                          <p:spTgt spid="88"/>
                                        </p:tgtEl>
                                        <p:attrNameLst>
                                          <p:attrName>style.visibility</p:attrName>
                                        </p:attrNameLst>
                                      </p:cBhvr>
                                      <p:to>
                                        <p:strVal val="visible"/>
                                      </p:to>
                                    </p:set>
                                    <p:animEffect transition="in" filter="box(in)">
                                      <p:cBhvr>
                                        <p:cTn id="162" dur="500"/>
                                        <p:tgtEl>
                                          <p:spTgt spid="88"/>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xit" presetSubtype="10" fill="hold" nodeType="clickEffect">
                                  <p:stCondLst>
                                    <p:cond delay="0"/>
                                  </p:stCondLst>
                                  <p:childTnLst>
                                    <p:animEffect transition="out" filter="blinds(horizontal)">
                                      <p:cBhvr>
                                        <p:cTn id="166" dur="500"/>
                                        <p:tgtEl>
                                          <p:spTgt spid="82"/>
                                        </p:tgtEl>
                                      </p:cBhvr>
                                    </p:animEffect>
                                    <p:set>
                                      <p:cBhvr>
                                        <p:cTn id="167" dur="1" fill="hold">
                                          <p:stCondLst>
                                            <p:cond delay="499"/>
                                          </p:stCondLst>
                                        </p:cTn>
                                        <p:tgtEl>
                                          <p:spTgt spid="82"/>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3" presetClass="entr" presetSubtype="10" fill="hold" nodeType="clickEffect">
                                  <p:stCondLst>
                                    <p:cond delay="0"/>
                                  </p:stCondLst>
                                  <p:childTnLst>
                                    <p:set>
                                      <p:cBhvr>
                                        <p:cTn id="171" dur="1" fill="hold">
                                          <p:stCondLst>
                                            <p:cond delay="0"/>
                                          </p:stCondLst>
                                        </p:cTn>
                                        <p:tgtEl>
                                          <p:spTgt spid="50"/>
                                        </p:tgtEl>
                                        <p:attrNameLst>
                                          <p:attrName>style.visibility</p:attrName>
                                        </p:attrNameLst>
                                      </p:cBhvr>
                                      <p:to>
                                        <p:strVal val="visible"/>
                                      </p:to>
                                    </p:set>
                                    <p:animEffect transition="in" filter="blinds(horizontal)">
                                      <p:cBhvr>
                                        <p:cTn id="172" dur="500"/>
                                        <p:tgtEl>
                                          <p:spTgt spid="50"/>
                                        </p:tgtEl>
                                      </p:cBhvr>
                                    </p:animEffect>
                                  </p:childTnLst>
                                </p:cTn>
                              </p:par>
                            </p:childTnLst>
                          </p:cTn>
                        </p:par>
                      </p:childTnLst>
                    </p:cTn>
                  </p:par>
                  <p:par>
                    <p:cTn id="173" fill="hold">
                      <p:stCondLst>
                        <p:cond delay="indefinite"/>
                      </p:stCondLst>
                      <p:childTnLst>
                        <p:par>
                          <p:cTn id="174" fill="hold">
                            <p:stCondLst>
                              <p:cond delay="0"/>
                            </p:stCondLst>
                            <p:childTnLst>
                              <p:par>
                                <p:cTn id="175" presetID="4" presetClass="entr" presetSubtype="16" fill="hold" grpId="0" nodeType="clickEffect">
                                  <p:stCondLst>
                                    <p:cond delay="0"/>
                                  </p:stCondLst>
                                  <p:childTnLst>
                                    <p:set>
                                      <p:cBhvr>
                                        <p:cTn id="176" dur="1" fill="hold">
                                          <p:stCondLst>
                                            <p:cond delay="0"/>
                                          </p:stCondLst>
                                        </p:cTn>
                                        <p:tgtEl>
                                          <p:spTgt spid="89"/>
                                        </p:tgtEl>
                                        <p:attrNameLst>
                                          <p:attrName>style.visibility</p:attrName>
                                        </p:attrNameLst>
                                      </p:cBhvr>
                                      <p:to>
                                        <p:strVal val="visible"/>
                                      </p:to>
                                    </p:set>
                                    <p:animEffect transition="in" filter="box(in)">
                                      <p:cBhvr>
                                        <p:cTn id="177" dur="500"/>
                                        <p:tgtEl>
                                          <p:spTgt spid="89"/>
                                        </p:tgtEl>
                                      </p:cBhvr>
                                    </p:animEffect>
                                  </p:childTnLst>
                                </p:cTn>
                              </p:par>
                            </p:childTnLst>
                          </p:cTn>
                        </p:par>
                      </p:childTnLst>
                    </p:cTn>
                  </p:par>
                  <p:par>
                    <p:cTn id="178" fill="hold">
                      <p:stCondLst>
                        <p:cond delay="indefinite"/>
                      </p:stCondLst>
                      <p:childTnLst>
                        <p:par>
                          <p:cTn id="179" fill="hold">
                            <p:stCondLst>
                              <p:cond delay="0"/>
                            </p:stCondLst>
                            <p:childTnLst>
                              <p:par>
                                <p:cTn id="180" presetID="4" presetClass="entr" presetSubtype="16" fill="hold" grpId="0" nodeType="clickEffect">
                                  <p:stCondLst>
                                    <p:cond delay="0"/>
                                  </p:stCondLst>
                                  <p:childTnLst>
                                    <p:set>
                                      <p:cBhvr>
                                        <p:cTn id="181" dur="1" fill="hold">
                                          <p:stCondLst>
                                            <p:cond delay="0"/>
                                          </p:stCondLst>
                                        </p:cTn>
                                        <p:tgtEl>
                                          <p:spTgt spid="90"/>
                                        </p:tgtEl>
                                        <p:attrNameLst>
                                          <p:attrName>style.visibility</p:attrName>
                                        </p:attrNameLst>
                                      </p:cBhvr>
                                      <p:to>
                                        <p:strVal val="visible"/>
                                      </p:to>
                                    </p:set>
                                    <p:animEffect transition="in" filter="box(in)">
                                      <p:cBhvr>
                                        <p:cTn id="182"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26" grpId="0" animBg="1"/>
      <p:bldP spid="27" grpId="0" animBg="1"/>
      <p:bldP spid="29" grpId="0" animBg="1"/>
      <p:bldP spid="30" grpId="0" animBg="1"/>
      <p:bldP spid="31" grpId="0" animBg="1"/>
      <p:bldP spid="36" grpId="0" animBg="1"/>
      <p:bldP spid="47" grpId="0" animBg="1"/>
      <p:bldP spid="48" grpId="0" animBg="1"/>
      <p:bldP spid="49" grpId="0" animBg="1"/>
      <p:bldP spid="58" grpId="0" animBg="1"/>
      <p:bldP spid="69" grpId="0" animBg="1"/>
      <p:bldP spid="70" grpId="0" animBg="1"/>
      <p:bldP spid="73" grpId="0" animBg="1"/>
      <p:bldP spid="79" grpId="0" animBg="1"/>
      <p:bldP spid="80" grpId="0" animBg="1"/>
      <p:bldP spid="88" grpId="0" animBg="1"/>
      <p:bldP spid="89" grpId="0" animBg="1"/>
      <p:bldP spid="9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Arithmetic Expressions</a:t>
            </a:r>
            <a:endParaRPr lang="en-US" dirty="0"/>
          </a:p>
        </p:txBody>
      </p:sp>
      <p:sp>
        <p:nvSpPr>
          <p:cNvPr id="3" name="Content Placeholder 2"/>
          <p:cNvSpPr>
            <a:spLocks noGrp="1"/>
          </p:cNvSpPr>
          <p:nvPr>
            <p:ph idx="1"/>
          </p:nvPr>
        </p:nvSpPr>
        <p:spPr/>
        <p:txBody>
          <a:bodyPr>
            <a:normAutofit/>
          </a:bodyPr>
          <a:lstStyle/>
          <a:p>
            <a:r>
              <a:rPr lang="en-US" dirty="0" smtClean="0"/>
              <a:t>A + B : Infix </a:t>
            </a:r>
          </a:p>
          <a:p>
            <a:r>
              <a:rPr lang="en-US" dirty="0" smtClean="0"/>
              <a:t>+AB : Prefix</a:t>
            </a:r>
          </a:p>
          <a:p>
            <a:r>
              <a:rPr lang="en-US" dirty="0" smtClean="0"/>
              <a:t>AB+ : Postfix </a:t>
            </a:r>
          </a:p>
          <a:p>
            <a:endParaRPr lang="en-US" dirty="0" smtClean="0"/>
          </a:p>
          <a:p>
            <a:r>
              <a:rPr lang="en-US" dirty="0" smtClean="0"/>
              <a:t>Stack Applications </a:t>
            </a:r>
          </a:p>
          <a:p>
            <a:pPr lvl="1"/>
            <a:r>
              <a:rPr lang="en-US" dirty="0" smtClean="0"/>
              <a:t>Conversions </a:t>
            </a:r>
          </a:p>
          <a:p>
            <a:pPr lvl="1"/>
            <a:r>
              <a:rPr lang="en-US" dirty="0" smtClean="0"/>
              <a:t>Evaluation	</a:t>
            </a:r>
          </a:p>
          <a:p>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fontScale="90000"/>
          </a:bodyPr>
          <a:lstStyle/>
          <a:p>
            <a:r>
              <a:rPr lang="en-US" dirty="0" smtClean="0"/>
              <a:t>Evaluation of Arithmetic Expressions </a:t>
            </a:r>
          </a:p>
        </p:txBody>
      </p:sp>
      <p:sp>
        <p:nvSpPr>
          <p:cNvPr id="3" name="Content Placeholder 2"/>
          <p:cNvSpPr>
            <a:spLocks noGrp="1"/>
          </p:cNvSpPr>
          <p:nvPr>
            <p:ph idx="1"/>
          </p:nvPr>
        </p:nvSpPr>
        <p:spPr>
          <a:xfrm>
            <a:off x="1066800" y="1447800"/>
            <a:ext cx="7498080" cy="4800600"/>
          </a:xfrm>
        </p:spPr>
        <p:txBody>
          <a:bodyPr>
            <a:normAutofit fontScale="92500" lnSpcReduction="20000"/>
          </a:bodyPr>
          <a:lstStyle/>
          <a:p>
            <a:r>
              <a:rPr lang="en-US" dirty="0" smtClean="0"/>
              <a:t>Precedence rules </a:t>
            </a:r>
          </a:p>
          <a:p>
            <a:pPr lvl="1"/>
            <a:r>
              <a:rPr lang="en-US" dirty="0" smtClean="0"/>
              <a:t>Exponentiation </a:t>
            </a:r>
          </a:p>
          <a:p>
            <a:pPr lvl="1"/>
            <a:r>
              <a:rPr lang="en-US" dirty="0" smtClean="0"/>
              <a:t>Multiplication/Division </a:t>
            </a:r>
          </a:p>
          <a:p>
            <a:pPr lvl="1"/>
            <a:r>
              <a:rPr lang="en-US" dirty="0" smtClean="0"/>
              <a:t>Addition / Subtraction</a:t>
            </a:r>
          </a:p>
          <a:p>
            <a:endParaRPr lang="en-US" dirty="0" smtClean="0"/>
          </a:p>
          <a:p>
            <a:r>
              <a:rPr lang="en-US" dirty="0" smtClean="0"/>
              <a:t>Use parentheses to </a:t>
            </a:r>
            <a:r>
              <a:rPr lang="en-US" dirty="0" err="1" smtClean="0"/>
              <a:t>overide</a:t>
            </a:r>
            <a:r>
              <a:rPr lang="en-US" dirty="0" smtClean="0"/>
              <a:t> precedence rules</a:t>
            </a:r>
          </a:p>
          <a:p>
            <a:pPr>
              <a:buNone/>
            </a:pPr>
            <a:endParaRPr lang="en-US" dirty="0" smtClean="0"/>
          </a:p>
          <a:p>
            <a:r>
              <a:rPr lang="en-US" dirty="0" smtClean="0"/>
              <a:t>When operators of same precedence  are scanned (without brackets) </a:t>
            </a:r>
          </a:p>
          <a:p>
            <a:pPr lvl="1"/>
            <a:r>
              <a:rPr lang="en-US" dirty="0" smtClean="0"/>
              <a:t>the order is assumed to be left to right, the order in which they are read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Infix to Postfix </a:t>
            </a:r>
            <a:endParaRPr lang="en-US" dirty="0"/>
          </a:p>
        </p:txBody>
      </p:sp>
      <p:sp>
        <p:nvSpPr>
          <p:cNvPr id="3" name="Content Placeholder 2"/>
          <p:cNvSpPr>
            <a:spLocks noGrp="1"/>
          </p:cNvSpPr>
          <p:nvPr>
            <p:ph sz="half" idx="1"/>
          </p:nvPr>
        </p:nvSpPr>
        <p:spPr/>
        <p:txBody>
          <a:bodyPr/>
          <a:lstStyle/>
          <a:p>
            <a:r>
              <a:rPr lang="en-US" dirty="0" smtClean="0"/>
              <a:t>Example 1</a:t>
            </a:r>
          </a:p>
          <a:p>
            <a:endParaRPr lang="en-US" dirty="0" smtClean="0"/>
          </a:p>
          <a:p>
            <a:pPr>
              <a:buNone/>
            </a:pPr>
            <a:r>
              <a:rPr lang="en-US" dirty="0" smtClean="0"/>
              <a:t>A + B * C </a:t>
            </a:r>
          </a:p>
          <a:p>
            <a:pPr>
              <a:buNone/>
            </a:pPr>
            <a:r>
              <a:rPr lang="en-US" dirty="0" smtClean="0"/>
              <a:t> =&gt; (A + (B*C))</a:t>
            </a:r>
          </a:p>
          <a:p>
            <a:pPr>
              <a:buNone/>
            </a:pPr>
            <a:r>
              <a:rPr lang="en-US" dirty="0" smtClean="0"/>
              <a:t> =&gt; (A + (BC*))</a:t>
            </a:r>
          </a:p>
          <a:p>
            <a:pPr>
              <a:buNone/>
            </a:pPr>
            <a:r>
              <a:rPr lang="en-US" dirty="0" smtClean="0"/>
              <a:t> =&gt; A (BC*) +</a:t>
            </a:r>
          </a:p>
          <a:p>
            <a:pPr>
              <a:buNone/>
            </a:pPr>
            <a:r>
              <a:rPr lang="en-US" dirty="0" smtClean="0"/>
              <a:t> =&gt; ABC * +</a:t>
            </a:r>
          </a:p>
          <a:p>
            <a:endParaRPr lang="en-US" dirty="0"/>
          </a:p>
        </p:txBody>
      </p:sp>
      <p:sp>
        <p:nvSpPr>
          <p:cNvPr id="4" name="Content Placeholder 3"/>
          <p:cNvSpPr>
            <a:spLocks noGrp="1"/>
          </p:cNvSpPr>
          <p:nvPr>
            <p:ph sz="half" idx="2"/>
          </p:nvPr>
        </p:nvSpPr>
        <p:spPr/>
        <p:txBody>
          <a:bodyPr/>
          <a:lstStyle/>
          <a:p>
            <a:r>
              <a:rPr lang="en-US" dirty="0" smtClean="0"/>
              <a:t>Example 2</a:t>
            </a:r>
          </a:p>
          <a:p>
            <a:endParaRPr lang="en-US" dirty="0" smtClean="0"/>
          </a:p>
          <a:p>
            <a:pPr>
              <a:buNone/>
            </a:pPr>
            <a:r>
              <a:rPr lang="en-US" dirty="0" smtClean="0"/>
              <a:t>(A + B) * C </a:t>
            </a:r>
          </a:p>
          <a:p>
            <a:pPr>
              <a:buNone/>
            </a:pPr>
            <a:r>
              <a:rPr lang="en-US" dirty="0" smtClean="0"/>
              <a:t> =&gt; (A + B) *C)</a:t>
            </a:r>
          </a:p>
          <a:p>
            <a:pPr>
              <a:buNone/>
            </a:pPr>
            <a:r>
              <a:rPr lang="en-US" dirty="0" smtClean="0"/>
              <a:t> =&gt; (AB+) * C)</a:t>
            </a:r>
          </a:p>
          <a:p>
            <a:pPr>
              <a:buNone/>
            </a:pPr>
            <a:r>
              <a:rPr lang="en-US" dirty="0" smtClean="0"/>
              <a:t> =&gt; (AB+) C*</a:t>
            </a:r>
          </a:p>
          <a:p>
            <a:pPr>
              <a:buNone/>
            </a:pPr>
            <a:r>
              <a:rPr lang="en-US" dirty="0" smtClean="0"/>
              <a:t> =&gt; AB + C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blinds(horizontal)">
                                      <p:cBhvr>
                                        <p:cTn id="21" dur="500"/>
                                        <p:tgtEl>
                                          <p:spTgt spid="4">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blinds(horizontal)">
                                      <p:cBhvr>
                                        <p:cTn id="24" dur="500"/>
                                        <p:tgtEl>
                                          <p:spTgt spid="4">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blinds(horizontal)">
                                      <p:cBhvr>
                                        <p:cTn id="27" dur="500"/>
                                        <p:tgtEl>
                                          <p:spTgt spid="4">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blinds(horizontal)">
                                      <p:cBhvr>
                                        <p:cTn id="30"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A + B – C</a:t>
            </a:r>
          </a:p>
          <a:p>
            <a:pPr lvl="1"/>
            <a:r>
              <a:rPr lang="en-US" dirty="0" smtClean="0"/>
              <a:t>AB+C-  (Postfix)</a:t>
            </a:r>
          </a:p>
          <a:p>
            <a:pPr lvl="1"/>
            <a:r>
              <a:rPr lang="en-US" dirty="0" smtClean="0"/>
              <a:t> - + ABC (Prefix)</a:t>
            </a:r>
          </a:p>
          <a:p>
            <a:pPr lvl="1"/>
            <a:endParaRPr lang="en-US" dirty="0" smtClean="0"/>
          </a:p>
          <a:p>
            <a:r>
              <a:rPr lang="en-US" dirty="0" smtClean="0"/>
              <a:t>(A+B) * (C-D)</a:t>
            </a:r>
          </a:p>
          <a:p>
            <a:pPr lvl="1"/>
            <a:r>
              <a:rPr lang="en-US" dirty="0" smtClean="0"/>
              <a:t>AB+ CD - * (Postfix)</a:t>
            </a:r>
          </a:p>
          <a:p>
            <a:pPr lvl="1"/>
            <a:r>
              <a:rPr lang="en-US" dirty="0" smtClean="0"/>
              <a:t>*+AB – CD (Prefix)</a:t>
            </a:r>
          </a:p>
          <a:p>
            <a:pPr lvl="1"/>
            <a:endParaRPr lang="en-US"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498080" cy="914400"/>
          </a:xfrm>
        </p:spPr>
        <p:txBody>
          <a:bodyPr/>
          <a:lstStyle/>
          <a:p>
            <a:r>
              <a:rPr lang="en-IN" dirty="0" smtClean="0"/>
              <a:t>Conversion: infix to postfix </a:t>
            </a:r>
            <a:endParaRPr lang="en-IN" dirty="0"/>
          </a:p>
        </p:txBody>
      </p:sp>
      <p:sp>
        <p:nvSpPr>
          <p:cNvPr id="3" name="Content Placeholder 2"/>
          <p:cNvSpPr>
            <a:spLocks noGrp="1"/>
          </p:cNvSpPr>
          <p:nvPr>
            <p:ph idx="1"/>
          </p:nvPr>
        </p:nvSpPr>
        <p:spPr>
          <a:xfrm>
            <a:off x="1143000" y="762000"/>
            <a:ext cx="7498080" cy="609600"/>
          </a:xfrm>
        </p:spPr>
        <p:txBody>
          <a:bodyPr/>
          <a:lstStyle/>
          <a:p>
            <a:r>
              <a:rPr lang="en-IN" dirty="0" smtClean="0"/>
              <a:t>A + B * C – D / E  </a:t>
            </a:r>
            <a:endParaRPr lang="en-IN" dirty="0"/>
          </a:p>
        </p:txBody>
      </p:sp>
      <p:sp>
        <p:nvSpPr>
          <p:cNvPr id="5" name="Content Placeholder 2"/>
          <p:cNvSpPr txBox="1">
            <a:spLocks/>
          </p:cNvSpPr>
          <p:nvPr/>
        </p:nvSpPr>
        <p:spPr>
          <a:xfrm>
            <a:off x="1295400" y="5410200"/>
            <a:ext cx="1676400" cy="457200"/>
          </a:xfrm>
          <a:prstGeom prst="rect">
            <a:avLst/>
          </a:prstGeom>
        </p:spPr>
        <p:txBody>
          <a:bodyPr>
            <a:normAutofit/>
          </a:bodyPr>
          <a:lstStyle/>
          <a:p>
            <a:pPr marL="365760" marR="0" lvl="0" indent="-283464" algn="l" defTabSz="914400" rtl="0" eaLnBrk="1" fontAlgn="auto" latinLnBrk="0" hangingPunct="1">
              <a:lnSpc>
                <a:spcPct val="100000"/>
              </a:lnSpc>
              <a:spcBef>
                <a:spcPts val="600"/>
              </a:spcBef>
              <a:spcAft>
                <a:spcPts val="0"/>
              </a:spcAft>
              <a:buClr>
                <a:schemeClr val="accent1"/>
              </a:buClr>
              <a:buSzPct val="80000"/>
              <a:tabLst/>
              <a:defRPr/>
            </a:pPr>
            <a:r>
              <a:rPr kumimoji="0" lang="en-IN" sz="2400" b="0" i="0" u="sng" strike="noStrike" kern="1200" cap="none" spc="0" normalizeH="0" baseline="0" noProof="0" dirty="0" smtClean="0">
                <a:ln>
                  <a:noFill/>
                </a:ln>
                <a:solidFill>
                  <a:schemeClr val="tx1"/>
                </a:solidFill>
                <a:effectLst/>
                <a:uLnTx/>
                <a:uFillTx/>
                <a:latin typeface="+mn-lt"/>
                <a:ea typeface="+mn-ea"/>
                <a:cs typeface="+mn-cs"/>
              </a:rPr>
              <a:t>Output:</a:t>
            </a:r>
            <a:endParaRPr kumimoji="0" lang="en-IN" sz="2400" b="0" i="0" u="sng"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1644069" y="5867400"/>
            <a:ext cx="565731" cy="646331"/>
          </a:xfrm>
          <a:prstGeom prst="rect">
            <a:avLst/>
          </a:prstGeom>
          <a:noFill/>
        </p:spPr>
        <p:txBody>
          <a:bodyPr wrap="square" rtlCol="0">
            <a:spAutoFit/>
          </a:bodyPr>
          <a:lstStyle/>
          <a:p>
            <a:r>
              <a:rPr lang="en-IN" sz="3600" dirty="0" smtClean="0"/>
              <a:t>A</a:t>
            </a:r>
            <a:endParaRPr lang="en-IN" sz="2400" dirty="0"/>
          </a:p>
        </p:txBody>
      </p:sp>
      <p:grpSp>
        <p:nvGrpSpPr>
          <p:cNvPr id="4" name="Group 6"/>
          <p:cNvGrpSpPr/>
          <p:nvPr/>
        </p:nvGrpSpPr>
        <p:grpSpPr>
          <a:xfrm>
            <a:off x="6400800" y="1905000"/>
            <a:ext cx="1752600" cy="3811588"/>
            <a:chOff x="5715000" y="1905000"/>
            <a:chExt cx="1752600" cy="3811588"/>
          </a:xfrm>
        </p:grpSpPr>
        <p:cxnSp>
          <p:nvCxnSpPr>
            <p:cNvPr id="8" name="Straight Connector 7"/>
            <p:cNvCxnSpPr/>
            <p:nvPr/>
          </p:nvCxnSpPr>
          <p:spPr>
            <a:xfrm rot="16200000" flipH="1">
              <a:off x="3848100" y="3771901"/>
              <a:ext cx="3810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5524500" y="3771900"/>
              <a:ext cx="3810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91200" y="5715000"/>
              <a:ext cx="1676400" cy="158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 name="TextBox 10"/>
          <p:cNvSpPr txBox="1"/>
          <p:nvPr/>
        </p:nvSpPr>
        <p:spPr>
          <a:xfrm>
            <a:off x="1524000" y="838200"/>
            <a:ext cx="381000" cy="461665"/>
          </a:xfrm>
          <a:prstGeom prst="rect">
            <a:avLst/>
          </a:prstGeom>
          <a:solidFill>
            <a:schemeClr val="bg1"/>
          </a:solidFill>
        </p:spPr>
        <p:txBody>
          <a:bodyPr wrap="square" rtlCol="0">
            <a:spAutoFit/>
          </a:bodyPr>
          <a:lstStyle/>
          <a:p>
            <a:endParaRPr lang="en-IN" sz="2400" dirty="0"/>
          </a:p>
        </p:txBody>
      </p:sp>
      <p:sp>
        <p:nvSpPr>
          <p:cNvPr id="12" name="Rectangle 11"/>
          <p:cNvSpPr/>
          <p:nvPr/>
        </p:nvSpPr>
        <p:spPr>
          <a:xfrm>
            <a:off x="6553200" y="51054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smtClean="0"/>
              <a:t>+</a:t>
            </a:r>
            <a:endParaRPr lang="en-IN" dirty="0"/>
          </a:p>
        </p:txBody>
      </p:sp>
      <p:sp>
        <p:nvSpPr>
          <p:cNvPr id="13" name="TextBox 12"/>
          <p:cNvSpPr txBox="1"/>
          <p:nvPr/>
        </p:nvSpPr>
        <p:spPr>
          <a:xfrm>
            <a:off x="1828800" y="838200"/>
            <a:ext cx="381000" cy="461665"/>
          </a:xfrm>
          <a:prstGeom prst="rect">
            <a:avLst/>
          </a:prstGeom>
          <a:solidFill>
            <a:schemeClr val="bg1"/>
          </a:solidFill>
        </p:spPr>
        <p:txBody>
          <a:bodyPr wrap="square" rtlCol="0">
            <a:spAutoFit/>
          </a:bodyPr>
          <a:lstStyle/>
          <a:p>
            <a:endParaRPr lang="en-IN" sz="2400" dirty="0"/>
          </a:p>
        </p:txBody>
      </p:sp>
      <p:sp>
        <p:nvSpPr>
          <p:cNvPr id="14" name="TextBox 13"/>
          <p:cNvSpPr txBox="1"/>
          <p:nvPr/>
        </p:nvSpPr>
        <p:spPr>
          <a:xfrm>
            <a:off x="2209800" y="838200"/>
            <a:ext cx="381000" cy="461665"/>
          </a:xfrm>
          <a:prstGeom prst="rect">
            <a:avLst/>
          </a:prstGeom>
          <a:solidFill>
            <a:schemeClr val="bg1"/>
          </a:solidFill>
        </p:spPr>
        <p:txBody>
          <a:bodyPr wrap="square" rtlCol="0">
            <a:spAutoFit/>
          </a:bodyPr>
          <a:lstStyle/>
          <a:p>
            <a:endParaRPr lang="en-IN" sz="2400" dirty="0"/>
          </a:p>
        </p:txBody>
      </p:sp>
      <p:sp>
        <p:nvSpPr>
          <p:cNvPr id="15" name="TextBox 14"/>
          <p:cNvSpPr txBox="1"/>
          <p:nvPr/>
        </p:nvSpPr>
        <p:spPr>
          <a:xfrm>
            <a:off x="1948869" y="5867400"/>
            <a:ext cx="565731" cy="646331"/>
          </a:xfrm>
          <a:prstGeom prst="rect">
            <a:avLst/>
          </a:prstGeom>
          <a:noFill/>
        </p:spPr>
        <p:txBody>
          <a:bodyPr wrap="square" rtlCol="0">
            <a:spAutoFit/>
          </a:bodyPr>
          <a:lstStyle/>
          <a:p>
            <a:r>
              <a:rPr lang="en-IN" sz="3600" dirty="0" smtClean="0"/>
              <a:t>B</a:t>
            </a:r>
            <a:endParaRPr lang="en-IN" sz="2400" dirty="0"/>
          </a:p>
        </p:txBody>
      </p:sp>
      <p:sp>
        <p:nvSpPr>
          <p:cNvPr id="16" name="TextBox 15"/>
          <p:cNvSpPr txBox="1"/>
          <p:nvPr/>
        </p:nvSpPr>
        <p:spPr>
          <a:xfrm>
            <a:off x="1447800" y="2057400"/>
            <a:ext cx="3657600" cy="369332"/>
          </a:xfrm>
          <a:prstGeom prst="rect">
            <a:avLst/>
          </a:prstGeom>
          <a:noFill/>
        </p:spPr>
        <p:txBody>
          <a:bodyPr wrap="square" rtlCol="0">
            <a:spAutoFit/>
          </a:bodyPr>
          <a:lstStyle/>
          <a:p>
            <a:r>
              <a:rPr lang="en-IN" dirty="0" smtClean="0"/>
              <a:t>Pre (*) &gt; Pre (+)</a:t>
            </a:r>
            <a:endParaRPr lang="en-IN" dirty="0"/>
          </a:p>
        </p:txBody>
      </p:sp>
      <p:sp>
        <p:nvSpPr>
          <p:cNvPr id="17" name="Rectangle 16"/>
          <p:cNvSpPr/>
          <p:nvPr/>
        </p:nvSpPr>
        <p:spPr>
          <a:xfrm>
            <a:off x="6553200" y="44958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smtClean="0"/>
              <a:t>*</a:t>
            </a:r>
            <a:endParaRPr lang="en-IN" dirty="0"/>
          </a:p>
        </p:txBody>
      </p:sp>
      <p:sp>
        <p:nvSpPr>
          <p:cNvPr id="19" name="TextBox 18"/>
          <p:cNvSpPr txBox="1"/>
          <p:nvPr/>
        </p:nvSpPr>
        <p:spPr>
          <a:xfrm>
            <a:off x="2253669" y="5867400"/>
            <a:ext cx="565731" cy="646331"/>
          </a:xfrm>
          <a:prstGeom prst="rect">
            <a:avLst/>
          </a:prstGeom>
          <a:noFill/>
        </p:spPr>
        <p:txBody>
          <a:bodyPr wrap="square" rtlCol="0">
            <a:spAutoFit/>
          </a:bodyPr>
          <a:lstStyle/>
          <a:p>
            <a:r>
              <a:rPr lang="en-IN" sz="3600" dirty="0" smtClean="0"/>
              <a:t>C</a:t>
            </a:r>
            <a:endParaRPr lang="en-IN" sz="2400" dirty="0"/>
          </a:p>
        </p:txBody>
      </p:sp>
      <p:sp>
        <p:nvSpPr>
          <p:cNvPr id="20" name="TextBox 19"/>
          <p:cNvSpPr txBox="1"/>
          <p:nvPr/>
        </p:nvSpPr>
        <p:spPr>
          <a:xfrm>
            <a:off x="2895600" y="838200"/>
            <a:ext cx="381000" cy="461665"/>
          </a:xfrm>
          <a:prstGeom prst="rect">
            <a:avLst/>
          </a:prstGeom>
          <a:solidFill>
            <a:schemeClr val="bg1"/>
          </a:solidFill>
        </p:spPr>
        <p:txBody>
          <a:bodyPr wrap="square" rtlCol="0">
            <a:spAutoFit/>
          </a:bodyPr>
          <a:lstStyle/>
          <a:p>
            <a:endParaRPr lang="en-IN" sz="2400" dirty="0"/>
          </a:p>
        </p:txBody>
      </p:sp>
      <p:sp>
        <p:nvSpPr>
          <p:cNvPr id="21" name="TextBox 20"/>
          <p:cNvSpPr txBox="1"/>
          <p:nvPr/>
        </p:nvSpPr>
        <p:spPr>
          <a:xfrm>
            <a:off x="1447800" y="2373868"/>
            <a:ext cx="3657600" cy="369332"/>
          </a:xfrm>
          <a:prstGeom prst="rect">
            <a:avLst/>
          </a:prstGeom>
          <a:noFill/>
        </p:spPr>
        <p:txBody>
          <a:bodyPr wrap="square" rtlCol="0">
            <a:spAutoFit/>
          </a:bodyPr>
          <a:lstStyle/>
          <a:p>
            <a:r>
              <a:rPr lang="en-IN" dirty="0" smtClean="0"/>
              <a:t>Pre (-) &lt; Pre (*)</a:t>
            </a:r>
            <a:endParaRPr lang="en-IN" dirty="0"/>
          </a:p>
        </p:txBody>
      </p:sp>
      <p:sp>
        <p:nvSpPr>
          <p:cNvPr id="22" name="TextBox 21"/>
          <p:cNvSpPr txBox="1"/>
          <p:nvPr/>
        </p:nvSpPr>
        <p:spPr>
          <a:xfrm>
            <a:off x="2558469" y="5867400"/>
            <a:ext cx="565731" cy="646331"/>
          </a:xfrm>
          <a:prstGeom prst="rect">
            <a:avLst/>
          </a:prstGeom>
          <a:noFill/>
        </p:spPr>
        <p:txBody>
          <a:bodyPr wrap="square" rtlCol="0">
            <a:spAutoFit/>
          </a:bodyPr>
          <a:lstStyle/>
          <a:p>
            <a:r>
              <a:rPr lang="en-IN" sz="3600" dirty="0" smtClean="0"/>
              <a:t>*</a:t>
            </a:r>
            <a:endParaRPr lang="en-IN" sz="2400" dirty="0"/>
          </a:p>
        </p:txBody>
      </p:sp>
      <p:sp>
        <p:nvSpPr>
          <p:cNvPr id="23" name="TextBox 22"/>
          <p:cNvSpPr txBox="1"/>
          <p:nvPr/>
        </p:nvSpPr>
        <p:spPr>
          <a:xfrm>
            <a:off x="1447800" y="2667000"/>
            <a:ext cx="3657600" cy="369332"/>
          </a:xfrm>
          <a:prstGeom prst="rect">
            <a:avLst/>
          </a:prstGeom>
          <a:noFill/>
        </p:spPr>
        <p:txBody>
          <a:bodyPr wrap="square" rtlCol="0">
            <a:spAutoFit/>
          </a:bodyPr>
          <a:lstStyle/>
          <a:p>
            <a:r>
              <a:rPr lang="en-IN" dirty="0" smtClean="0"/>
              <a:t>Pre (-) == Pre (+)</a:t>
            </a:r>
            <a:endParaRPr lang="en-IN" dirty="0"/>
          </a:p>
        </p:txBody>
      </p:sp>
      <p:sp>
        <p:nvSpPr>
          <p:cNvPr id="24" name="TextBox 23"/>
          <p:cNvSpPr txBox="1"/>
          <p:nvPr/>
        </p:nvSpPr>
        <p:spPr>
          <a:xfrm>
            <a:off x="2787069" y="5791200"/>
            <a:ext cx="565731" cy="646331"/>
          </a:xfrm>
          <a:prstGeom prst="rect">
            <a:avLst/>
          </a:prstGeom>
          <a:noFill/>
        </p:spPr>
        <p:txBody>
          <a:bodyPr wrap="square" rtlCol="0">
            <a:spAutoFit/>
          </a:bodyPr>
          <a:lstStyle/>
          <a:p>
            <a:r>
              <a:rPr lang="en-IN" sz="3600" dirty="0" smtClean="0"/>
              <a:t>+</a:t>
            </a:r>
            <a:endParaRPr lang="en-IN" sz="2400" dirty="0"/>
          </a:p>
        </p:txBody>
      </p:sp>
      <p:sp>
        <p:nvSpPr>
          <p:cNvPr id="25" name="Rectangle 24"/>
          <p:cNvSpPr/>
          <p:nvPr/>
        </p:nvSpPr>
        <p:spPr>
          <a:xfrm>
            <a:off x="6553200" y="50292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smtClean="0"/>
              <a:t>-</a:t>
            </a:r>
            <a:endParaRPr lang="en-IN" dirty="0"/>
          </a:p>
        </p:txBody>
      </p:sp>
      <p:sp>
        <p:nvSpPr>
          <p:cNvPr id="26" name="TextBox 25"/>
          <p:cNvSpPr txBox="1"/>
          <p:nvPr/>
        </p:nvSpPr>
        <p:spPr>
          <a:xfrm>
            <a:off x="3276600" y="838200"/>
            <a:ext cx="381000" cy="461665"/>
          </a:xfrm>
          <a:prstGeom prst="rect">
            <a:avLst/>
          </a:prstGeom>
          <a:solidFill>
            <a:schemeClr val="bg1"/>
          </a:solidFill>
        </p:spPr>
        <p:txBody>
          <a:bodyPr wrap="square" rtlCol="0">
            <a:spAutoFit/>
          </a:bodyPr>
          <a:lstStyle/>
          <a:p>
            <a:endParaRPr lang="en-IN" sz="2400" dirty="0"/>
          </a:p>
        </p:txBody>
      </p:sp>
      <p:sp>
        <p:nvSpPr>
          <p:cNvPr id="27" name="TextBox 26"/>
          <p:cNvSpPr txBox="1"/>
          <p:nvPr/>
        </p:nvSpPr>
        <p:spPr>
          <a:xfrm>
            <a:off x="3048000" y="5867400"/>
            <a:ext cx="565731" cy="646331"/>
          </a:xfrm>
          <a:prstGeom prst="rect">
            <a:avLst/>
          </a:prstGeom>
          <a:noFill/>
        </p:spPr>
        <p:txBody>
          <a:bodyPr wrap="square" rtlCol="0">
            <a:spAutoFit/>
          </a:bodyPr>
          <a:lstStyle/>
          <a:p>
            <a:r>
              <a:rPr lang="en-IN" sz="3600" dirty="0" smtClean="0"/>
              <a:t>D</a:t>
            </a:r>
            <a:endParaRPr lang="en-IN" sz="2400" dirty="0"/>
          </a:p>
        </p:txBody>
      </p:sp>
      <p:sp>
        <p:nvSpPr>
          <p:cNvPr id="28" name="TextBox 27"/>
          <p:cNvSpPr txBox="1"/>
          <p:nvPr/>
        </p:nvSpPr>
        <p:spPr>
          <a:xfrm>
            <a:off x="1447800" y="2983468"/>
            <a:ext cx="3657600" cy="369332"/>
          </a:xfrm>
          <a:prstGeom prst="rect">
            <a:avLst/>
          </a:prstGeom>
          <a:noFill/>
        </p:spPr>
        <p:txBody>
          <a:bodyPr wrap="square" rtlCol="0">
            <a:spAutoFit/>
          </a:bodyPr>
          <a:lstStyle/>
          <a:p>
            <a:r>
              <a:rPr lang="en-IN" dirty="0" smtClean="0"/>
              <a:t>Pre (/) &gt; Pre (-)</a:t>
            </a:r>
            <a:endParaRPr lang="en-IN" dirty="0"/>
          </a:p>
        </p:txBody>
      </p:sp>
      <p:sp>
        <p:nvSpPr>
          <p:cNvPr id="29" name="Rectangle 28"/>
          <p:cNvSpPr/>
          <p:nvPr/>
        </p:nvSpPr>
        <p:spPr>
          <a:xfrm>
            <a:off x="6553200" y="44196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smtClean="0"/>
              <a:t>/</a:t>
            </a:r>
            <a:endParaRPr lang="en-IN" dirty="0"/>
          </a:p>
        </p:txBody>
      </p:sp>
      <p:sp>
        <p:nvSpPr>
          <p:cNvPr id="31" name="TextBox 30"/>
          <p:cNvSpPr txBox="1"/>
          <p:nvPr/>
        </p:nvSpPr>
        <p:spPr>
          <a:xfrm>
            <a:off x="3396669" y="5830669"/>
            <a:ext cx="565731" cy="646331"/>
          </a:xfrm>
          <a:prstGeom prst="rect">
            <a:avLst/>
          </a:prstGeom>
          <a:noFill/>
        </p:spPr>
        <p:txBody>
          <a:bodyPr wrap="square" rtlCol="0">
            <a:spAutoFit/>
          </a:bodyPr>
          <a:lstStyle/>
          <a:p>
            <a:r>
              <a:rPr lang="en-IN" sz="3600" dirty="0" smtClean="0"/>
              <a:t>E</a:t>
            </a:r>
            <a:endParaRPr lang="en-IN" sz="2400" dirty="0"/>
          </a:p>
        </p:txBody>
      </p:sp>
      <p:sp>
        <p:nvSpPr>
          <p:cNvPr id="32" name="TextBox 31"/>
          <p:cNvSpPr txBox="1"/>
          <p:nvPr/>
        </p:nvSpPr>
        <p:spPr>
          <a:xfrm>
            <a:off x="3657600" y="5867400"/>
            <a:ext cx="565731" cy="646331"/>
          </a:xfrm>
          <a:prstGeom prst="rect">
            <a:avLst/>
          </a:prstGeom>
          <a:noFill/>
        </p:spPr>
        <p:txBody>
          <a:bodyPr wrap="square" rtlCol="0">
            <a:spAutoFit/>
          </a:bodyPr>
          <a:lstStyle/>
          <a:p>
            <a:r>
              <a:rPr lang="en-IN" sz="3600" dirty="0" smtClean="0"/>
              <a:t>/-</a:t>
            </a:r>
            <a:endParaRPr lang="en-IN" sz="2400" dirty="0"/>
          </a:p>
        </p:txBody>
      </p:sp>
      <p:sp>
        <p:nvSpPr>
          <p:cNvPr id="33" name="TextBox 32"/>
          <p:cNvSpPr txBox="1"/>
          <p:nvPr/>
        </p:nvSpPr>
        <p:spPr>
          <a:xfrm>
            <a:off x="2514600" y="838200"/>
            <a:ext cx="381000" cy="461665"/>
          </a:xfrm>
          <a:prstGeom prst="rect">
            <a:avLst/>
          </a:prstGeom>
          <a:solidFill>
            <a:schemeClr val="bg1"/>
          </a:solidFill>
        </p:spPr>
        <p:txBody>
          <a:bodyPr wrap="square" rtlCol="0">
            <a:spAutoFit/>
          </a:bodyPr>
          <a:lstStyle/>
          <a:p>
            <a:endParaRPr lang="en-IN" sz="2400" dirty="0"/>
          </a:p>
        </p:txBody>
      </p:sp>
      <p:sp>
        <p:nvSpPr>
          <p:cNvPr id="34" name="TextBox 33"/>
          <p:cNvSpPr txBox="1"/>
          <p:nvPr/>
        </p:nvSpPr>
        <p:spPr>
          <a:xfrm>
            <a:off x="3352800" y="838201"/>
            <a:ext cx="228600" cy="457200"/>
          </a:xfrm>
          <a:prstGeom prst="rect">
            <a:avLst/>
          </a:prstGeom>
          <a:solidFill>
            <a:schemeClr val="bg1"/>
          </a:solidFill>
        </p:spPr>
        <p:txBody>
          <a:bodyPr wrap="square" rtlCol="0">
            <a:spAutoFit/>
          </a:bodyPr>
          <a:lstStyle/>
          <a:p>
            <a:endParaRPr lang="en-IN" sz="2400" dirty="0"/>
          </a:p>
        </p:txBody>
      </p:sp>
      <p:sp>
        <p:nvSpPr>
          <p:cNvPr id="35" name="TextBox 34"/>
          <p:cNvSpPr txBox="1"/>
          <p:nvPr/>
        </p:nvSpPr>
        <p:spPr>
          <a:xfrm>
            <a:off x="3657600" y="838200"/>
            <a:ext cx="304800" cy="461665"/>
          </a:xfrm>
          <a:prstGeom prst="rect">
            <a:avLst/>
          </a:prstGeom>
          <a:solidFill>
            <a:schemeClr val="bg1"/>
          </a:solidFill>
        </p:spPr>
        <p:txBody>
          <a:bodyPr wrap="square" rtlCol="0">
            <a:spAutoFit/>
          </a:bodyPr>
          <a:lstStyle/>
          <a:p>
            <a:endParaRPr lang="en-IN" sz="2400" dirty="0"/>
          </a:p>
        </p:txBody>
      </p:sp>
      <p:sp>
        <p:nvSpPr>
          <p:cNvPr id="36" name="TextBox 35"/>
          <p:cNvSpPr txBox="1"/>
          <p:nvPr/>
        </p:nvSpPr>
        <p:spPr>
          <a:xfrm>
            <a:off x="4038600" y="838200"/>
            <a:ext cx="228600" cy="457200"/>
          </a:xfrm>
          <a:prstGeom prst="rect">
            <a:avLst/>
          </a:prstGeom>
          <a:solidFill>
            <a:schemeClr val="bg1"/>
          </a:solidFill>
        </p:spPr>
        <p:txBody>
          <a:bodyPr wrap="square" rtlCol="0">
            <a:spAutoFit/>
          </a:bodyPr>
          <a:lstStyle/>
          <a:p>
            <a:endParaRPr lang="en-IN" sz="2400" dirty="0"/>
          </a:p>
        </p:txBody>
      </p:sp>
      <p:sp>
        <p:nvSpPr>
          <p:cNvPr id="37" name="TextBox 36"/>
          <p:cNvSpPr txBox="1"/>
          <p:nvPr/>
        </p:nvSpPr>
        <p:spPr>
          <a:xfrm>
            <a:off x="4343400" y="838200"/>
            <a:ext cx="228600" cy="457200"/>
          </a:xfrm>
          <a:prstGeom prst="rect">
            <a:avLst/>
          </a:prstGeom>
          <a:solidFill>
            <a:schemeClr val="bg1"/>
          </a:solidFill>
        </p:spPr>
        <p:txBody>
          <a:bodyPr wrap="square" rtlCol="0">
            <a:spAutoFit/>
          </a:bodyPr>
          <a:lstStyle/>
          <a:p>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linds(horizontal)">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linds(horizontal)">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blinds(horizontal)">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horizontal)">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linds(horizontal)">
                                      <p:cBhvr>
                                        <p:cTn id="55" dur="5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blinds(horizontal)">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grpId="1" nodeType="clickEffect">
                                  <p:stCondLst>
                                    <p:cond delay="0"/>
                                  </p:stCondLst>
                                  <p:childTnLst>
                                    <p:animEffect transition="out" filter="blinds(horizontal)">
                                      <p:cBhvr>
                                        <p:cTn id="64" dur="500"/>
                                        <p:tgtEl>
                                          <p:spTgt spid="17"/>
                                        </p:tgtEl>
                                      </p:cBhvr>
                                    </p:animEffect>
                                    <p:set>
                                      <p:cBhvr>
                                        <p:cTn id="65" dur="1" fill="hold">
                                          <p:stCondLst>
                                            <p:cond delay="499"/>
                                          </p:stCondLst>
                                        </p:cTn>
                                        <p:tgtEl>
                                          <p:spTgt spid="17"/>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blinds(horizontal)">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blinds(horizontal)">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blinds(horizontal)">
                                      <p:cBhvr>
                                        <p:cTn id="85" dur="500"/>
                                        <p:tgtEl>
                                          <p:spTgt spid="24"/>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blinds(horizontal)">
                                      <p:cBhvr>
                                        <p:cTn id="90" dur="500"/>
                                        <p:tgtEl>
                                          <p:spTgt spid="34"/>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blinds(horizontal)">
                                      <p:cBhvr>
                                        <p:cTn id="93" dur="500"/>
                                        <p:tgtEl>
                                          <p:spTgt spid="25"/>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blinds(horizontal)">
                                      <p:cBhvr>
                                        <p:cTn id="98" dur="500"/>
                                        <p:tgtEl>
                                          <p:spTgt spid="26"/>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blinds(horizontal)">
                                      <p:cBhvr>
                                        <p:cTn id="103" dur="500"/>
                                        <p:tgtEl>
                                          <p:spTgt spid="35"/>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blinds(horizontal)">
                                      <p:cBhvr>
                                        <p:cTn id="108" dur="500"/>
                                        <p:tgtEl>
                                          <p:spTgt spid="27"/>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blinds(horizontal)">
                                      <p:cBhvr>
                                        <p:cTn id="113" dur="500"/>
                                        <p:tgtEl>
                                          <p:spTgt spid="36"/>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blinds(horizontal)">
                                      <p:cBhvr>
                                        <p:cTn id="118" dur="500"/>
                                        <p:tgtEl>
                                          <p:spTgt spid="28"/>
                                        </p:tgtEl>
                                      </p:cBhvr>
                                    </p:animEffect>
                                  </p:childTnLst>
                                </p:cTn>
                              </p:par>
                            </p:childTnLst>
                          </p:cTn>
                        </p:par>
                        <p:par>
                          <p:cTn id="119" fill="hold">
                            <p:stCondLst>
                              <p:cond delay="500"/>
                            </p:stCondLst>
                            <p:childTnLst>
                              <p:par>
                                <p:cTn id="120" presetID="3" presetClass="entr" presetSubtype="10" fill="hold" grpId="0" nodeType="after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blinds(horizontal)">
                                      <p:cBhvr>
                                        <p:cTn id="122" dur="500"/>
                                        <p:tgtEl>
                                          <p:spTgt spid="29"/>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37"/>
                                        </p:tgtEl>
                                        <p:attrNameLst>
                                          <p:attrName>style.visibility</p:attrName>
                                        </p:attrNameLst>
                                      </p:cBhvr>
                                      <p:to>
                                        <p:strVal val="visible"/>
                                      </p:to>
                                    </p:set>
                                    <p:animEffect transition="in" filter="blinds(horizontal)">
                                      <p:cBhvr>
                                        <p:cTn id="127" dur="500"/>
                                        <p:tgtEl>
                                          <p:spTgt spid="37"/>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31"/>
                                        </p:tgtEl>
                                        <p:attrNameLst>
                                          <p:attrName>style.visibility</p:attrName>
                                        </p:attrNameLst>
                                      </p:cBhvr>
                                      <p:to>
                                        <p:strVal val="visible"/>
                                      </p:to>
                                    </p:set>
                                    <p:animEffect transition="in" filter="blinds(horizontal)">
                                      <p:cBhvr>
                                        <p:cTn id="132" dur="500"/>
                                        <p:tgtEl>
                                          <p:spTgt spid="31"/>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xit" presetSubtype="10" fill="hold" grpId="1" nodeType="clickEffect">
                                  <p:stCondLst>
                                    <p:cond delay="0"/>
                                  </p:stCondLst>
                                  <p:childTnLst>
                                    <p:animEffect transition="out" filter="blinds(horizontal)">
                                      <p:cBhvr>
                                        <p:cTn id="136" dur="500"/>
                                        <p:tgtEl>
                                          <p:spTgt spid="29"/>
                                        </p:tgtEl>
                                      </p:cBhvr>
                                    </p:animEffect>
                                    <p:set>
                                      <p:cBhvr>
                                        <p:cTn id="137" dur="1" fill="hold">
                                          <p:stCondLst>
                                            <p:cond delay="499"/>
                                          </p:stCondLst>
                                        </p:cTn>
                                        <p:tgtEl>
                                          <p:spTgt spid="29"/>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3" presetClass="exit" presetSubtype="10" fill="hold" grpId="1" nodeType="clickEffect">
                                  <p:stCondLst>
                                    <p:cond delay="0"/>
                                  </p:stCondLst>
                                  <p:childTnLst>
                                    <p:animEffect transition="out" filter="blinds(horizontal)">
                                      <p:cBhvr>
                                        <p:cTn id="141" dur="500"/>
                                        <p:tgtEl>
                                          <p:spTgt spid="25"/>
                                        </p:tgtEl>
                                      </p:cBhvr>
                                    </p:animEffect>
                                    <p:set>
                                      <p:cBhvr>
                                        <p:cTn id="142" dur="1" fill="hold">
                                          <p:stCondLst>
                                            <p:cond delay="499"/>
                                          </p:stCondLst>
                                        </p:cTn>
                                        <p:tgtEl>
                                          <p:spTgt spid="25"/>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blinds(horizontal)">
                                      <p:cBhvr>
                                        <p:cTn id="1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P spid="12" grpId="0" animBg="1"/>
      <p:bldP spid="12" grpId="1" animBg="1"/>
      <p:bldP spid="13" grpId="0" animBg="1"/>
      <p:bldP spid="14" grpId="0" animBg="1"/>
      <p:bldP spid="15" grpId="0"/>
      <p:bldP spid="16" grpId="0"/>
      <p:bldP spid="17" grpId="0" animBg="1"/>
      <p:bldP spid="17" grpId="1" animBg="1"/>
      <p:bldP spid="19" grpId="0"/>
      <p:bldP spid="20" grpId="0" animBg="1"/>
      <p:bldP spid="21" grpId="0"/>
      <p:bldP spid="22" grpId="0"/>
      <p:bldP spid="23" grpId="0"/>
      <p:bldP spid="24" grpId="0"/>
      <p:bldP spid="25" grpId="0" animBg="1"/>
      <p:bldP spid="25" grpId="1" animBg="1"/>
      <p:bldP spid="27" grpId="0"/>
      <p:bldP spid="28" grpId="0"/>
      <p:bldP spid="29" grpId="0" animBg="1"/>
      <p:bldP spid="29" grpId="1" animBg="1"/>
      <p:bldP spid="31" grpId="0"/>
      <p:bldP spid="32" grpId="0"/>
      <p:bldP spid="33" grpId="0" animBg="1"/>
      <p:bldP spid="34" grpId="0" animBg="1"/>
      <p:bldP spid="35" grpId="0" animBg="1"/>
      <p:bldP spid="36"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7498080" cy="1143000"/>
          </a:xfrm>
        </p:spPr>
        <p:txBody>
          <a:bodyPr/>
          <a:lstStyle/>
          <a:p>
            <a:r>
              <a:rPr lang="en-IN" dirty="0" smtClean="0"/>
              <a:t>Conversion: infix to postfix </a:t>
            </a:r>
            <a:endParaRPr lang="en-IN" dirty="0"/>
          </a:p>
        </p:txBody>
      </p:sp>
      <p:sp>
        <p:nvSpPr>
          <p:cNvPr id="3" name="Content Placeholder 2"/>
          <p:cNvSpPr>
            <a:spLocks noGrp="1"/>
          </p:cNvSpPr>
          <p:nvPr>
            <p:ph idx="1"/>
          </p:nvPr>
        </p:nvSpPr>
        <p:spPr>
          <a:xfrm>
            <a:off x="1219200" y="990600"/>
            <a:ext cx="7714488" cy="5486400"/>
          </a:xfrm>
        </p:spPr>
        <p:txBody>
          <a:bodyPr>
            <a:normAutofit fontScale="92500" lnSpcReduction="20000"/>
          </a:bodyPr>
          <a:lstStyle/>
          <a:p>
            <a:r>
              <a:rPr lang="en-IN" dirty="0" smtClean="0"/>
              <a:t>Scan the input string from left to right one character at a time (token)</a:t>
            </a:r>
          </a:p>
          <a:p>
            <a:endParaRPr lang="en-IN" dirty="0" smtClean="0"/>
          </a:p>
          <a:p>
            <a:r>
              <a:rPr lang="en-IN" dirty="0" smtClean="0"/>
              <a:t>If the token is:</a:t>
            </a:r>
          </a:p>
          <a:p>
            <a:pPr lvl="2"/>
            <a:r>
              <a:rPr lang="en-IN" dirty="0" smtClean="0"/>
              <a:t>Left “(“  </a:t>
            </a:r>
          </a:p>
          <a:p>
            <a:pPr lvl="3"/>
            <a:r>
              <a:rPr lang="en-IN" dirty="0" smtClean="0"/>
              <a:t>Push on the stack </a:t>
            </a:r>
          </a:p>
          <a:p>
            <a:pPr lvl="3">
              <a:buNone/>
            </a:pPr>
            <a:endParaRPr lang="en-IN" dirty="0" smtClean="0"/>
          </a:p>
          <a:p>
            <a:pPr lvl="2"/>
            <a:r>
              <a:rPr lang="en-IN" dirty="0" smtClean="0"/>
              <a:t>Operand (number/letter) </a:t>
            </a:r>
          </a:p>
          <a:p>
            <a:pPr lvl="3"/>
            <a:r>
              <a:rPr lang="en-IN" dirty="0" smtClean="0"/>
              <a:t> Write directly to output string</a:t>
            </a:r>
          </a:p>
          <a:p>
            <a:pPr lvl="3">
              <a:buNone/>
            </a:pPr>
            <a:endParaRPr lang="en-IN" dirty="0" smtClean="0"/>
          </a:p>
          <a:p>
            <a:pPr lvl="2"/>
            <a:r>
              <a:rPr lang="en-IN" dirty="0" smtClean="0"/>
              <a:t>Right “)” </a:t>
            </a:r>
          </a:p>
          <a:p>
            <a:pPr lvl="3"/>
            <a:r>
              <a:rPr lang="en-IN" dirty="0" smtClean="0"/>
              <a:t>Pop stack till corresponding “(” is found</a:t>
            </a:r>
          </a:p>
          <a:p>
            <a:pPr lvl="3"/>
            <a:r>
              <a:rPr lang="en-IN" dirty="0" smtClean="0"/>
              <a:t>If Stack Empty then “error”</a:t>
            </a:r>
          </a:p>
          <a:p>
            <a:pPr lvl="3"/>
            <a:r>
              <a:rPr lang="en-IN" dirty="0" smtClean="0"/>
              <a:t>Else while stack not empty</a:t>
            </a:r>
          </a:p>
          <a:p>
            <a:pPr lvl="4"/>
            <a:r>
              <a:rPr lang="en-IN" dirty="0" smtClean="0"/>
              <a:t>pop stack and write to output string  </a:t>
            </a:r>
            <a:endParaRPr lang="en-IN"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7498080" cy="1143000"/>
          </a:xfrm>
        </p:spPr>
        <p:txBody>
          <a:bodyPr/>
          <a:lstStyle/>
          <a:p>
            <a:r>
              <a:rPr lang="en-IN" dirty="0" smtClean="0"/>
              <a:t>Conversion: infix to postfix </a:t>
            </a:r>
            <a:endParaRPr lang="en-IN" dirty="0"/>
          </a:p>
        </p:txBody>
      </p:sp>
      <p:sp>
        <p:nvSpPr>
          <p:cNvPr id="3" name="Content Placeholder 2"/>
          <p:cNvSpPr>
            <a:spLocks noGrp="1"/>
          </p:cNvSpPr>
          <p:nvPr>
            <p:ph idx="1"/>
          </p:nvPr>
        </p:nvSpPr>
        <p:spPr>
          <a:xfrm>
            <a:off x="1066800" y="762000"/>
            <a:ext cx="7866888" cy="5867400"/>
          </a:xfrm>
        </p:spPr>
        <p:txBody>
          <a:bodyPr>
            <a:normAutofit fontScale="77500" lnSpcReduction="20000"/>
          </a:bodyPr>
          <a:lstStyle/>
          <a:p>
            <a:r>
              <a:rPr lang="en-IN" dirty="0" smtClean="0"/>
              <a:t>Operator:</a:t>
            </a:r>
          </a:p>
          <a:p>
            <a:pPr>
              <a:buNone/>
            </a:pPr>
            <a:endParaRPr lang="en-IN" dirty="0" smtClean="0"/>
          </a:p>
          <a:p>
            <a:pPr lvl="1"/>
            <a:r>
              <a:rPr lang="en-IN" dirty="0" smtClean="0"/>
              <a:t>If stack empty or </a:t>
            </a:r>
            <a:r>
              <a:rPr lang="en-IN" dirty="0" err="1" smtClean="0"/>
              <a:t>sTop</a:t>
            </a:r>
            <a:r>
              <a:rPr lang="en-IN" dirty="0" smtClean="0"/>
              <a:t> = “(“ then </a:t>
            </a:r>
          </a:p>
          <a:p>
            <a:pPr lvl="2"/>
            <a:r>
              <a:rPr lang="en-IN" dirty="0" smtClean="0"/>
              <a:t>push token/ operator onto stack</a:t>
            </a:r>
          </a:p>
          <a:p>
            <a:pPr lvl="1"/>
            <a:endParaRPr lang="en-IN" dirty="0" smtClean="0"/>
          </a:p>
          <a:p>
            <a:pPr lvl="1"/>
            <a:r>
              <a:rPr lang="en-IN" dirty="0" smtClean="0"/>
              <a:t>If precedence (token) &gt; precedence (</a:t>
            </a:r>
            <a:r>
              <a:rPr lang="en-IN" dirty="0" err="1" smtClean="0"/>
              <a:t>sTop</a:t>
            </a:r>
            <a:r>
              <a:rPr lang="en-IN" dirty="0" smtClean="0"/>
              <a:t>) then</a:t>
            </a:r>
          </a:p>
          <a:p>
            <a:pPr lvl="2"/>
            <a:r>
              <a:rPr lang="en-IN" dirty="0" smtClean="0"/>
              <a:t>push token/ operator onto stack </a:t>
            </a:r>
          </a:p>
          <a:p>
            <a:pPr lvl="1"/>
            <a:endParaRPr lang="en-IN" dirty="0" smtClean="0"/>
          </a:p>
          <a:p>
            <a:pPr lvl="1"/>
            <a:r>
              <a:rPr lang="en-IN" dirty="0" smtClean="0"/>
              <a:t>If precedence (token) &lt;= precedence (</a:t>
            </a:r>
            <a:r>
              <a:rPr lang="en-IN" dirty="0" err="1" smtClean="0"/>
              <a:t>sTop</a:t>
            </a:r>
            <a:r>
              <a:rPr lang="en-IN" dirty="0" smtClean="0"/>
              <a:t>) then </a:t>
            </a:r>
          </a:p>
          <a:p>
            <a:pPr lvl="2"/>
            <a:r>
              <a:rPr lang="en-IN" dirty="0" smtClean="0"/>
              <a:t>While stack not empty </a:t>
            </a:r>
          </a:p>
          <a:p>
            <a:pPr lvl="3"/>
            <a:r>
              <a:rPr lang="en-IN" dirty="0" smtClean="0"/>
              <a:t>Pop stack and write to output </a:t>
            </a:r>
          </a:p>
          <a:p>
            <a:pPr lvl="2"/>
            <a:r>
              <a:rPr lang="en-IN" dirty="0" smtClean="0"/>
              <a:t>Push token onto stack </a:t>
            </a:r>
          </a:p>
          <a:p>
            <a:pPr lvl="1"/>
            <a:endParaRPr lang="en-IN" dirty="0" smtClean="0"/>
          </a:p>
          <a:p>
            <a:pPr lvl="1"/>
            <a:r>
              <a:rPr lang="en-IN" dirty="0" smtClean="0"/>
              <a:t>If </a:t>
            </a:r>
            <a:r>
              <a:rPr lang="en-IN" dirty="0" err="1" smtClean="0"/>
              <a:t>sTop</a:t>
            </a:r>
            <a:r>
              <a:rPr lang="en-IN" dirty="0" smtClean="0"/>
              <a:t> = “)” then </a:t>
            </a:r>
          </a:p>
          <a:p>
            <a:pPr lvl="2"/>
            <a:r>
              <a:rPr lang="en-IN" dirty="0" smtClean="0"/>
              <a:t>Pop and write till corresponding “(“ </a:t>
            </a:r>
          </a:p>
          <a:p>
            <a:pPr lvl="2"/>
            <a:r>
              <a:rPr lang="en-IN" dirty="0" smtClean="0"/>
              <a:t>If stack empty then “error” </a:t>
            </a:r>
          </a:p>
          <a:p>
            <a:pPr lvl="2"/>
            <a:r>
              <a:rPr lang="en-IN" dirty="0" smtClean="0"/>
              <a:t>else while stack not empty</a:t>
            </a:r>
          </a:p>
          <a:p>
            <a:pPr lvl="3"/>
            <a:r>
              <a:rPr lang="en-IN" dirty="0" smtClean="0"/>
              <a:t>pop and write</a:t>
            </a:r>
          </a:p>
          <a:p>
            <a:pPr lvl="2">
              <a:buNone/>
            </a:pPr>
            <a:endParaRPr lang="en-IN" dirty="0" smtClean="0"/>
          </a:p>
          <a:p>
            <a:pPr lvl="2">
              <a:buNone/>
            </a:pPr>
            <a:endParaRPr lang="en-IN" dirty="0" smtClean="0"/>
          </a:p>
          <a:p>
            <a:pPr lvl="1"/>
            <a:endParaRPr lang="en-I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Conversion: infix to postfix </a:t>
            </a:r>
            <a:endParaRPr lang="en-IN" dirty="0"/>
          </a:p>
        </p:txBody>
      </p:sp>
      <p:sp>
        <p:nvSpPr>
          <p:cNvPr id="3" name="Content Placeholder 2"/>
          <p:cNvSpPr>
            <a:spLocks noGrp="1"/>
          </p:cNvSpPr>
          <p:nvPr>
            <p:ph idx="1"/>
          </p:nvPr>
        </p:nvSpPr>
        <p:spPr/>
        <p:txBody>
          <a:bodyPr>
            <a:normAutofit/>
          </a:bodyPr>
          <a:lstStyle/>
          <a:p>
            <a:r>
              <a:rPr lang="en-IN" dirty="0" smtClean="0"/>
              <a:t>A * B – (C+D) + E</a:t>
            </a:r>
          </a:p>
          <a:p>
            <a:pPr lvl="1"/>
            <a:r>
              <a:rPr lang="en-IN" dirty="0" smtClean="0"/>
              <a:t>Push (*)</a:t>
            </a:r>
          </a:p>
          <a:p>
            <a:pPr lvl="1"/>
            <a:r>
              <a:rPr lang="en-IN" dirty="0" smtClean="0"/>
              <a:t>Pre (-) &lt; Pre (*) =&gt; Pop (*) &amp; Push (-)</a:t>
            </a:r>
          </a:p>
          <a:p>
            <a:pPr lvl="1"/>
            <a:r>
              <a:rPr lang="en-IN" dirty="0" smtClean="0"/>
              <a:t>Push “(“</a:t>
            </a:r>
          </a:p>
          <a:p>
            <a:pPr lvl="1"/>
            <a:r>
              <a:rPr lang="en-IN" dirty="0" smtClean="0"/>
              <a:t>Push (+) since </a:t>
            </a:r>
            <a:r>
              <a:rPr lang="en-IN" dirty="0" err="1" smtClean="0"/>
              <a:t>STop</a:t>
            </a:r>
            <a:r>
              <a:rPr lang="en-IN" dirty="0" smtClean="0"/>
              <a:t> = “(“  </a:t>
            </a:r>
          </a:p>
          <a:p>
            <a:pPr lvl="1"/>
            <a:r>
              <a:rPr lang="en-IN" dirty="0" smtClean="0"/>
              <a:t>Since “)” =&gt; Pop (+) , Pop “(” </a:t>
            </a:r>
          </a:p>
          <a:p>
            <a:pPr lvl="1"/>
            <a:r>
              <a:rPr lang="en-IN" dirty="0" smtClean="0"/>
              <a:t>Pre (+) == Pre (-) =&gt; Pop (-), Push (+)</a:t>
            </a:r>
          </a:p>
          <a:p>
            <a:pPr lvl="1"/>
            <a:r>
              <a:rPr lang="en-IN" dirty="0" smtClean="0"/>
              <a:t>Since end pop till stack empty </a:t>
            </a:r>
          </a:p>
          <a:p>
            <a:pPr>
              <a:buNone/>
            </a:pPr>
            <a:endParaRPr lang="en-IN" dirty="0"/>
          </a:p>
        </p:txBody>
      </p:sp>
      <p:sp>
        <p:nvSpPr>
          <p:cNvPr id="4" name="TextBox 3"/>
          <p:cNvSpPr txBox="1"/>
          <p:nvPr/>
        </p:nvSpPr>
        <p:spPr>
          <a:xfrm>
            <a:off x="1720269" y="5943600"/>
            <a:ext cx="413331" cy="646331"/>
          </a:xfrm>
          <a:prstGeom prst="rect">
            <a:avLst/>
          </a:prstGeom>
          <a:noFill/>
        </p:spPr>
        <p:txBody>
          <a:bodyPr wrap="square" rtlCol="0">
            <a:spAutoFit/>
          </a:bodyPr>
          <a:lstStyle/>
          <a:p>
            <a:r>
              <a:rPr lang="en-IN" sz="3600" dirty="0" smtClean="0"/>
              <a:t>A</a:t>
            </a:r>
            <a:endParaRPr lang="en-IN" sz="2400" dirty="0"/>
          </a:p>
        </p:txBody>
      </p:sp>
      <p:sp>
        <p:nvSpPr>
          <p:cNvPr id="5" name="TextBox 4"/>
          <p:cNvSpPr txBox="1"/>
          <p:nvPr/>
        </p:nvSpPr>
        <p:spPr>
          <a:xfrm>
            <a:off x="2025069" y="5943600"/>
            <a:ext cx="413331" cy="646331"/>
          </a:xfrm>
          <a:prstGeom prst="rect">
            <a:avLst/>
          </a:prstGeom>
          <a:noFill/>
        </p:spPr>
        <p:txBody>
          <a:bodyPr wrap="square" rtlCol="0">
            <a:spAutoFit/>
          </a:bodyPr>
          <a:lstStyle/>
          <a:p>
            <a:r>
              <a:rPr lang="en-IN" sz="3600" dirty="0" smtClean="0"/>
              <a:t>B</a:t>
            </a:r>
            <a:endParaRPr lang="en-IN" sz="2400" dirty="0"/>
          </a:p>
        </p:txBody>
      </p:sp>
      <p:sp>
        <p:nvSpPr>
          <p:cNvPr id="6" name="TextBox 5"/>
          <p:cNvSpPr txBox="1"/>
          <p:nvPr/>
        </p:nvSpPr>
        <p:spPr>
          <a:xfrm>
            <a:off x="2329869" y="6019800"/>
            <a:ext cx="413331" cy="646331"/>
          </a:xfrm>
          <a:prstGeom prst="rect">
            <a:avLst/>
          </a:prstGeom>
          <a:noFill/>
        </p:spPr>
        <p:txBody>
          <a:bodyPr wrap="square" rtlCol="0">
            <a:spAutoFit/>
          </a:bodyPr>
          <a:lstStyle/>
          <a:p>
            <a:r>
              <a:rPr lang="en-IN" sz="3600" dirty="0" smtClean="0"/>
              <a:t>*</a:t>
            </a:r>
            <a:endParaRPr lang="en-IN" sz="2400" dirty="0"/>
          </a:p>
        </p:txBody>
      </p:sp>
      <p:sp>
        <p:nvSpPr>
          <p:cNvPr id="7" name="TextBox 6"/>
          <p:cNvSpPr txBox="1"/>
          <p:nvPr/>
        </p:nvSpPr>
        <p:spPr>
          <a:xfrm>
            <a:off x="2558469" y="5943600"/>
            <a:ext cx="413331" cy="646331"/>
          </a:xfrm>
          <a:prstGeom prst="rect">
            <a:avLst/>
          </a:prstGeom>
          <a:noFill/>
        </p:spPr>
        <p:txBody>
          <a:bodyPr wrap="square" rtlCol="0">
            <a:spAutoFit/>
          </a:bodyPr>
          <a:lstStyle/>
          <a:p>
            <a:r>
              <a:rPr lang="en-IN" sz="3600" dirty="0" smtClean="0"/>
              <a:t>C</a:t>
            </a:r>
            <a:endParaRPr lang="en-IN" sz="2400" dirty="0"/>
          </a:p>
        </p:txBody>
      </p:sp>
      <p:sp>
        <p:nvSpPr>
          <p:cNvPr id="8" name="TextBox 7"/>
          <p:cNvSpPr txBox="1"/>
          <p:nvPr/>
        </p:nvSpPr>
        <p:spPr>
          <a:xfrm>
            <a:off x="2895600" y="5943600"/>
            <a:ext cx="413331" cy="646331"/>
          </a:xfrm>
          <a:prstGeom prst="rect">
            <a:avLst/>
          </a:prstGeom>
          <a:noFill/>
        </p:spPr>
        <p:txBody>
          <a:bodyPr wrap="square" rtlCol="0">
            <a:spAutoFit/>
          </a:bodyPr>
          <a:lstStyle/>
          <a:p>
            <a:r>
              <a:rPr lang="en-IN" sz="3600" dirty="0" smtClean="0"/>
              <a:t>D</a:t>
            </a:r>
            <a:endParaRPr lang="en-IN" sz="2400" dirty="0"/>
          </a:p>
        </p:txBody>
      </p:sp>
      <p:sp>
        <p:nvSpPr>
          <p:cNvPr id="9" name="TextBox 8"/>
          <p:cNvSpPr txBox="1"/>
          <p:nvPr/>
        </p:nvSpPr>
        <p:spPr>
          <a:xfrm>
            <a:off x="3244269" y="5943600"/>
            <a:ext cx="413331" cy="646331"/>
          </a:xfrm>
          <a:prstGeom prst="rect">
            <a:avLst/>
          </a:prstGeom>
          <a:noFill/>
        </p:spPr>
        <p:txBody>
          <a:bodyPr wrap="square" rtlCol="0">
            <a:spAutoFit/>
          </a:bodyPr>
          <a:lstStyle/>
          <a:p>
            <a:r>
              <a:rPr lang="en-IN" sz="3600" dirty="0" smtClean="0"/>
              <a:t>+</a:t>
            </a:r>
            <a:endParaRPr lang="en-IN" sz="2400" dirty="0"/>
          </a:p>
        </p:txBody>
      </p:sp>
      <p:sp>
        <p:nvSpPr>
          <p:cNvPr id="10" name="TextBox 9"/>
          <p:cNvSpPr txBox="1"/>
          <p:nvPr/>
        </p:nvSpPr>
        <p:spPr>
          <a:xfrm>
            <a:off x="3581400" y="5867400"/>
            <a:ext cx="413331" cy="646331"/>
          </a:xfrm>
          <a:prstGeom prst="rect">
            <a:avLst/>
          </a:prstGeom>
          <a:noFill/>
        </p:spPr>
        <p:txBody>
          <a:bodyPr wrap="square" rtlCol="0">
            <a:spAutoFit/>
          </a:bodyPr>
          <a:lstStyle/>
          <a:p>
            <a:r>
              <a:rPr lang="en-IN" sz="3600" dirty="0" smtClean="0"/>
              <a:t>-</a:t>
            </a:r>
            <a:endParaRPr lang="en-IN" sz="2400" dirty="0"/>
          </a:p>
        </p:txBody>
      </p:sp>
      <p:sp>
        <p:nvSpPr>
          <p:cNvPr id="11" name="TextBox 10"/>
          <p:cNvSpPr txBox="1"/>
          <p:nvPr/>
        </p:nvSpPr>
        <p:spPr>
          <a:xfrm>
            <a:off x="3777669" y="5943600"/>
            <a:ext cx="413331" cy="646331"/>
          </a:xfrm>
          <a:prstGeom prst="rect">
            <a:avLst/>
          </a:prstGeom>
          <a:noFill/>
        </p:spPr>
        <p:txBody>
          <a:bodyPr wrap="square" rtlCol="0">
            <a:spAutoFit/>
          </a:bodyPr>
          <a:lstStyle/>
          <a:p>
            <a:r>
              <a:rPr lang="en-IN" sz="3600" dirty="0" smtClean="0"/>
              <a:t>E</a:t>
            </a:r>
            <a:endParaRPr lang="en-IN" sz="2400" dirty="0"/>
          </a:p>
        </p:txBody>
      </p:sp>
      <p:sp>
        <p:nvSpPr>
          <p:cNvPr id="12" name="TextBox 11"/>
          <p:cNvSpPr txBox="1"/>
          <p:nvPr/>
        </p:nvSpPr>
        <p:spPr>
          <a:xfrm>
            <a:off x="4006269" y="5943600"/>
            <a:ext cx="413331" cy="646331"/>
          </a:xfrm>
          <a:prstGeom prst="rect">
            <a:avLst/>
          </a:prstGeom>
          <a:noFill/>
        </p:spPr>
        <p:txBody>
          <a:bodyPr wrap="square" rtlCol="0">
            <a:spAutoFit/>
          </a:bodyPr>
          <a:lstStyle/>
          <a:p>
            <a:r>
              <a:rPr lang="en-IN" sz="3600" dirty="0" smtClean="0"/>
              <a:t>+</a:t>
            </a:r>
            <a:endParaRPr lang="en-IN" sz="2400" dirty="0"/>
          </a:p>
        </p:txBody>
      </p:sp>
      <p:sp>
        <p:nvSpPr>
          <p:cNvPr id="13" name="Rectangle 12"/>
          <p:cNvSpPr/>
          <p:nvPr/>
        </p:nvSpPr>
        <p:spPr>
          <a:xfrm>
            <a:off x="3505200" y="2209800"/>
            <a:ext cx="3810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sp>
        <p:nvSpPr>
          <p:cNvPr id="14" name="Rectangle 13"/>
          <p:cNvSpPr/>
          <p:nvPr/>
        </p:nvSpPr>
        <p:spPr>
          <a:xfrm>
            <a:off x="8001000" y="2667000"/>
            <a:ext cx="3810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grpSp>
        <p:nvGrpSpPr>
          <p:cNvPr id="16" name="Group 22"/>
          <p:cNvGrpSpPr/>
          <p:nvPr/>
        </p:nvGrpSpPr>
        <p:grpSpPr>
          <a:xfrm>
            <a:off x="3657600" y="3200400"/>
            <a:ext cx="838200" cy="228600"/>
            <a:chOff x="3657600" y="3200400"/>
            <a:chExt cx="838200" cy="228600"/>
          </a:xfrm>
        </p:grpSpPr>
        <p:sp>
          <p:nvSpPr>
            <p:cNvPr id="15" name="Rectangle 14"/>
            <p:cNvSpPr/>
            <p:nvPr/>
          </p:nvSpPr>
          <p:spPr>
            <a:xfrm>
              <a:off x="3657600" y="32004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sp>
          <p:nvSpPr>
            <p:cNvPr id="17" name="Rectangle 16"/>
            <p:cNvSpPr/>
            <p:nvPr/>
          </p:nvSpPr>
          <p:spPr>
            <a:xfrm>
              <a:off x="4114800" y="32004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smtClean="0"/>
                <a:t>(</a:t>
              </a:r>
              <a:endParaRPr lang="en-IN" sz="1050" b="1" dirty="0"/>
            </a:p>
          </p:txBody>
        </p:sp>
      </p:grpSp>
      <p:grpSp>
        <p:nvGrpSpPr>
          <p:cNvPr id="23" name="Group 23"/>
          <p:cNvGrpSpPr/>
          <p:nvPr/>
        </p:nvGrpSpPr>
        <p:grpSpPr>
          <a:xfrm>
            <a:off x="6324600" y="3657600"/>
            <a:ext cx="1295400" cy="228600"/>
            <a:chOff x="6324600" y="3657600"/>
            <a:chExt cx="1295400" cy="228600"/>
          </a:xfrm>
        </p:grpSpPr>
        <p:sp>
          <p:nvSpPr>
            <p:cNvPr id="18" name="Rectangle 17"/>
            <p:cNvSpPr/>
            <p:nvPr/>
          </p:nvSpPr>
          <p:spPr>
            <a:xfrm>
              <a:off x="6324600" y="36576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sp>
          <p:nvSpPr>
            <p:cNvPr id="19" name="Rectangle 18"/>
            <p:cNvSpPr/>
            <p:nvPr/>
          </p:nvSpPr>
          <p:spPr>
            <a:xfrm>
              <a:off x="6781800" y="36576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smtClean="0"/>
                <a:t>(</a:t>
              </a:r>
              <a:endParaRPr lang="en-IN" sz="1050" b="1" dirty="0"/>
            </a:p>
          </p:txBody>
        </p:sp>
        <p:sp>
          <p:nvSpPr>
            <p:cNvPr id="20" name="Rectangle 19"/>
            <p:cNvSpPr/>
            <p:nvPr/>
          </p:nvSpPr>
          <p:spPr>
            <a:xfrm>
              <a:off x="7239000" y="36576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smtClean="0"/>
                <a:t>+</a:t>
              </a:r>
              <a:endParaRPr lang="en-IN" sz="1050" b="1" dirty="0"/>
            </a:p>
          </p:txBody>
        </p:sp>
      </p:grpSp>
      <p:sp>
        <p:nvSpPr>
          <p:cNvPr id="21" name="Rectangle 20"/>
          <p:cNvSpPr/>
          <p:nvPr/>
        </p:nvSpPr>
        <p:spPr>
          <a:xfrm>
            <a:off x="6553200" y="41910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sp>
        <p:nvSpPr>
          <p:cNvPr id="22" name="Rectangle 21"/>
          <p:cNvSpPr/>
          <p:nvPr/>
        </p:nvSpPr>
        <p:spPr>
          <a:xfrm>
            <a:off x="7924800" y="47244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smtClean="0"/>
              <a:t>+</a:t>
            </a:r>
            <a:endParaRPr lang="en-IN" sz="105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blinds(horizontal)">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childTnLst>
                          </p:cTn>
                        </p:par>
                        <p:par>
                          <p:cTn id="32" fill="hold">
                            <p:stCondLst>
                              <p:cond delay="500"/>
                            </p:stCondLst>
                            <p:childTnLst>
                              <p:par>
                                <p:cTn id="33" presetID="3" presetClass="entr" presetSubtype="1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linds(horizontal)">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blinds(horizontal)">
                                      <p:cBhvr>
                                        <p:cTn id="40" dur="500"/>
                                        <p:tgtEl>
                                          <p:spTgt spid="3">
                                            <p:txEl>
                                              <p:pRg st="3" end="3"/>
                                            </p:txEl>
                                          </p:spTgt>
                                        </p:tgtEl>
                                      </p:cBhvr>
                                    </p:animEffect>
                                  </p:childTnLst>
                                </p:cTn>
                              </p:par>
                            </p:childTnLst>
                          </p:cTn>
                        </p:par>
                        <p:par>
                          <p:cTn id="41" fill="hold">
                            <p:stCondLst>
                              <p:cond delay="500"/>
                            </p:stCondLst>
                            <p:childTnLst>
                              <p:par>
                                <p:cTn id="42" presetID="3" presetClass="entr" presetSubtype="1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linds(horizontal)">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blinds(horizontal)">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Effect transition="in" filter="blinds(horizontal)">
                                      <p:cBhvr>
                                        <p:cTn id="54" dur="500"/>
                                        <p:tgtEl>
                                          <p:spTgt spid="3">
                                            <p:txEl>
                                              <p:pRg st="4" end="4"/>
                                            </p:txEl>
                                          </p:spTgt>
                                        </p:tgtEl>
                                      </p:cBhvr>
                                    </p:animEffect>
                                  </p:childTnLst>
                                </p:cTn>
                              </p:par>
                            </p:childTnLst>
                          </p:cTn>
                        </p:par>
                        <p:par>
                          <p:cTn id="55" fill="hold">
                            <p:stCondLst>
                              <p:cond delay="500"/>
                            </p:stCondLst>
                            <p:childTnLst>
                              <p:par>
                                <p:cTn id="56" presetID="3" presetClass="entr" presetSubtype="10" fill="hold" nodeType="after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blinds(horizontal)">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blinds(horizontal)">
                                      <p:cBhvr>
                                        <p:cTn id="63" dur="500"/>
                                        <p:tgtEl>
                                          <p:spTgt spid="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3">
                                            <p:txEl>
                                              <p:pRg st="5" end="5"/>
                                            </p:txEl>
                                          </p:spTgt>
                                        </p:tgtEl>
                                        <p:attrNameLst>
                                          <p:attrName>style.visibility</p:attrName>
                                        </p:attrNameLst>
                                      </p:cBhvr>
                                      <p:to>
                                        <p:strVal val="visible"/>
                                      </p:to>
                                    </p:set>
                                    <p:animEffect transition="in" filter="blinds(horizontal)">
                                      <p:cBhvr>
                                        <p:cTn id="68" dur="500"/>
                                        <p:tgtEl>
                                          <p:spTgt spid="3">
                                            <p:txEl>
                                              <p:pRg st="5" end="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blinds(horizontal)">
                                      <p:cBhvr>
                                        <p:cTn id="73" dur="500"/>
                                        <p:tgtEl>
                                          <p:spTgt spid="9"/>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3">
                                            <p:txEl>
                                              <p:pRg st="6" end="6"/>
                                            </p:txEl>
                                          </p:spTgt>
                                        </p:tgtEl>
                                        <p:attrNameLst>
                                          <p:attrName>style.visibility</p:attrName>
                                        </p:attrNameLst>
                                      </p:cBhvr>
                                      <p:to>
                                        <p:strVal val="visible"/>
                                      </p:to>
                                    </p:set>
                                    <p:animEffect transition="in" filter="blinds(horizontal)">
                                      <p:cBhvr>
                                        <p:cTn id="78" dur="500"/>
                                        <p:tgtEl>
                                          <p:spTgt spid="3">
                                            <p:txEl>
                                              <p:pRg st="6" end="6"/>
                                            </p:txEl>
                                          </p:spTgt>
                                        </p:tgtEl>
                                      </p:cBhvr>
                                    </p:animEffect>
                                  </p:childTnLst>
                                </p:cTn>
                              </p:par>
                            </p:childTnLst>
                          </p:cTn>
                        </p:par>
                        <p:par>
                          <p:cTn id="79" fill="hold">
                            <p:stCondLst>
                              <p:cond delay="500"/>
                            </p:stCondLst>
                            <p:childTnLst>
                              <p:par>
                                <p:cTn id="80" presetID="3" presetClass="entr" presetSubtype="1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blinds(horizontal)">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blinds(horizontal)">
                                      <p:cBhvr>
                                        <p:cTn id="87" dur="500"/>
                                        <p:tgtEl>
                                          <p:spTgt spid="10"/>
                                        </p:tgtEl>
                                      </p:cBhvr>
                                    </p:animEffect>
                                  </p:childTnLst>
                                </p:cTn>
                              </p:par>
                            </p:childTnLst>
                          </p:cTn>
                        </p:par>
                        <p:par>
                          <p:cTn id="88" fill="hold">
                            <p:stCondLst>
                              <p:cond delay="500"/>
                            </p:stCondLst>
                            <p:childTnLst>
                              <p:par>
                                <p:cTn id="89" presetID="3" presetClass="entr" presetSubtype="10" fill="hold" grpId="0" nodeType="after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blinds(horizontal)">
                                      <p:cBhvr>
                                        <p:cTn id="91" dur="500"/>
                                        <p:tgtEl>
                                          <p:spTgt spid="22"/>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blinds(horizontal)">
                                      <p:cBhvr>
                                        <p:cTn id="96" dur="500"/>
                                        <p:tgtEl>
                                          <p:spTgt spid="11"/>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3">
                                            <p:txEl>
                                              <p:pRg st="7" end="7"/>
                                            </p:txEl>
                                          </p:spTgt>
                                        </p:tgtEl>
                                        <p:attrNameLst>
                                          <p:attrName>style.visibility</p:attrName>
                                        </p:attrNameLst>
                                      </p:cBhvr>
                                      <p:to>
                                        <p:strVal val="visible"/>
                                      </p:to>
                                    </p:set>
                                    <p:animEffect transition="in" filter="blinds(horizontal)">
                                      <p:cBhvr>
                                        <p:cTn id="101" dur="500"/>
                                        <p:tgtEl>
                                          <p:spTgt spid="3">
                                            <p:txEl>
                                              <p:pRg st="7" end="7"/>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12"/>
                                        </p:tgtEl>
                                        <p:attrNameLst>
                                          <p:attrName>style.visibility</p:attrName>
                                        </p:attrNameLst>
                                      </p:cBhvr>
                                      <p:to>
                                        <p:strVal val="visible"/>
                                      </p:to>
                                    </p:set>
                                    <p:animEffect transition="in" filter="blinds(horizontal)">
                                      <p:cBhvr>
                                        <p:cTn id="10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animBg="1"/>
      <p:bldP spid="14"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Evaluating a postfix expression</a:t>
            </a:r>
            <a:endParaRPr lang="en-US" dirty="0"/>
          </a:p>
        </p:txBody>
      </p:sp>
      <p:sp>
        <p:nvSpPr>
          <p:cNvPr id="6" name="Content Placeholder 5"/>
          <p:cNvSpPr>
            <a:spLocks noGrp="1"/>
          </p:cNvSpPr>
          <p:nvPr>
            <p:ph idx="1"/>
          </p:nvPr>
        </p:nvSpPr>
        <p:spPr/>
        <p:txBody>
          <a:bodyPr/>
          <a:lstStyle/>
          <a:p>
            <a:r>
              <a:rPr lang="en-US" dirty="0" smtClean="0"/>
              <a:t>Each operator in a postfix string refers to the previous two operands in the string </a:t>
            </a:r>
          </a:p>
          <a:p>
            <a:r>
              <a:rPr lang="en-US" dirty="0" smtClean="0"/>
              <a:t>One of the operand may itself be the result of applying a previous operator</a:t>
            </a:r>
          </a:p>
          <a:p>
            <a:pPr lvl="1"/>
            <a:endParaRPr lang="en-US"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Evaluating a postfix expression using a Stack</a:t>
            </a:r>
            <a:endParaRPr lang="en-US" sz="3600" dirty="0"/>
          </a:p>
        </p:txBody>
      </p:sp>
      <p:sp>
        <p:nvSpPr>
          <p:cNvPr id="3" name="Content Placeholder 2"/>
          <p:cNvSpPr>
            <a:spLocks noGrp="1"/>
          </p:cNvSpPr>
          <p:nvPr>
            <p:ph idx="1"/>
          </p:nvPr>
        </p:nvSpPr>
        <p:spPr>
          <a:xfrm>
            <a:off x="1143000" y="1676400"/>
            <a:ext cx="7790688" cy="4572000"/>
          </a:xfrm>
        </p:spPr>
        <p:txBody>
          <a:bodyPr>
            <a:normAutofit lnSpcReduction="10000"/>
          </a:bodyPr>
          <a:lstStyle/>
          <a:p>
            <a:pPr algn="just"/>
            <a:r>
              <a:rPr lang="en-US" dirty="0" smtClean="0"/>
              <a:t>Read the input string from Left to Right</a:t>
            </a:r>
          </a:p>
          <a:p>
            <a:pPr algn="just"/>
            <a:r>
              <a:rPr lang="en-US" dirty="0" smtClean="0"/>
              <a:t>Each time an operand is read-&gt;</a:t>
            </a:r>
          </a:p>
          <a:p>
            <a:pPr lvl="1" algn="just"/>
            <a:r>
              <a:rPr lang="en-US" dirty="0" smtClean="0"/>
              <a:t>Push it on the stack </a:t>
            </a:r>
          </a:p>
          <a:p>
            <a:pPr algn="just"/>
            <a:r>
              <a:rPr lang="en-US" dirty="0" smtClean="0"/>
              <a:t>When an operator is read </a:t>
            </a:r>
          </a:p>
          <a:p>
            <a:pPr lvl="1" algn="just"/>
            <a:r>
              <a:rPr lang="en-US" dirty="0" smtClean="0"/>
              <a:t>Pop the two operands from the top of the stack </a:t>
            </a:r>
          </a:p>
          <a:p>
            <a:pPr lvl="1" algn="just"/>
            <a:r>
              <a:rPr lang="en-US" dirty="0" smtClean="0"/>
              <a:t>Perform the indicated operation on the two operands</a:t>
            </a:r>
          </a:p>
          <a:p>
            <a:pPr lvl="1" algn="just"/>
            <a:r>
              <a:rPr lang="en-US" dirty="0" smtClean="0"/>
              <a:t>Push the result back onto the stack, so that it is available as an operand for the next operator </a:t>
            </a:r>
          </a:p>
          <a:p>
            <a:pPr lvl="1"/>
            <a:endParaRPr lang="en-US" dirty="0" smtClean="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IN" dirty="0" smtClean="0"/>
              <a:t>The postfix expression is evaluated left to right. </a:t>
            </a:r>
          </a:p>
          <a:p>
            <a:pPr algn="just"/>
            <a:r>
              <a:rPr lang="en-IN" dirty="0" smtClean="0"/>
              <a:t>Operands (such as numbers) are pushed on the stack. </a:t>
            </a:r>
          </a:p>
          <a:p>
            <a:pPr algn="just"/>
            <a:r>
              <a:rPr lang="en-IN" dirty="0" smtClean="0"/>
              <a:t>As each operator is encountered the top two elements on the stack are removed, the operation is performed, and the result is pushed back on the stack. </a:t>
            </a:r>
          </a:p>
          <a:p>
            <a:pPr algn="just"/>
            <a:r>
              <a:rPr lang="en-IN" dirty="0" smtClean="0"/>
              <a:t>Once all the input has been scanned the final result is left sitting in the stack.</a:t>
            </a:r>
          </a:p>
          <a:p>
            <a:pPr algn="just"/>
            <a:r>
              <a:rPr lang="en-IN" dirty="0" smtClean="0"/>
              <a:t>What error conditions can arise if the input is not a correctly formed postfix expression? What happens for the expression 3 4 + + ? How about 3 4 + 4 5 + ?</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Evaluating a postfix expression using a Stack – Example </a:t>
            </a:r>
            <a:endParaRPr lang="en-US" sz="3200" dirty="0"/>
          </a:p>
        </p:txBody>
      </p:sp>
      <p:sp>
        <p:nvSpPr>
          <p:cNvPr id="3" name="Content Placeholder 2"/>
          <p:cNvSpPr>
            <a:spLocks noGrp="1"/>
          </p:cNvSpPr>
          <p:nvPr>
            <p:ph idx="1"/>
          </p:nvPr>
        </p:nvSpPr>
        <p:spPr/>
        <p:txBody>
          <a:bodyPr>
            <a:noAutofit/>
          </a:bodyPr>
          <a:lstStyle/>
          <a:p>
            <a:r>
              <a:rPr lang="en-US" sz="2400" dirty="0" smtClean="0"/>
              <a:t>6 3 + 2 *</a:t>
            </a:r>
          </a:p>
          <a:p>
            <a:pPr lvl="1"/>
            <a:r>
              <a:rPr lang="en-US" sz="1800" dirty="0" smtClean="0"/>
              <a:t>Push (6)</a:t>
            </a:r>
          </a:p>
          <a:p>
            <a:pPr lvl="1"/>
            <a:r>
              <a:rPr lang="en-US" sz="1800" dirty="0" smtClean="0"/>
              <a:t>Push (3)</a:t>
            </a:r>
          </a:p>
          <a:p>
            <a:pPr lvl="1">
              <a:buNone/>
            </a:pPr>
            <a:r>
              <a:rPr lang="en-US" sz="1800" dirty="0" smtClean="0"/>
              <a:t>+</a:t>
            </a:r>
          </a:p>
          <a:p>
            <a:pPr lvl="1"/>
            <a:r>
              <a:rPr lang="en-US" sz="1800" dirty="0" smtClean="0"/>
              <a:t>Pop (3)</a:t>
            </a:r>
          </a:p>
          <a:p>
            <a:pPr lvl="1"/>
            <a:r>
              <a:rPr lang="en-US" sz="1800" dirty="0" smtClean="0"/>
              <a:t>Pop (6)</a:t>
            </a:r>
          </a:p>
          <a:p>
            <a:pPr lvl="1"/>
            <a:r>
              <a:rPr lang="en-US" sz="1800" dirty="0" smtClean="0"/>
              <a:t>Calculate ( 6+3 = 9)</a:t>
            </a:r>
          </a:p>
          <a:p>
            <a:pPr lvl="1"/>
            <a:r>
              <a:rPr lang="en-US" sz="1800" dirty="0" smtClean="0"/>
              <a:t>Push (9)</a:t>
            </a:r>
          </a:p>
          <a:p>
            <a:pPr lvl="1"/>
            <a:r>
              <a:rPr lang="en-US" sz="1800" dirty="0" smtClean="0"/>
              <a:t>Push (2)</a:t>
            </a:r>
          </a:p>
          <a:p>
            <a:pPr lvl="1">
              <a:buNone/>
            </a:pPr>
            <a:r>
              <a:rPr lang="en-US" sz="1800" dirty="0" smtClean="0"/>
              <a:t>*</a:t>
            </a:r>
          </a:p>
          <a:p>
            <a:pPr lvl="1"/>
            <a:r>
              <a:rPr lang="en-US" sz="1800" dirty="0" smtClean="0"/>
              <a:t>Pop (2)</a:t>
            </a:r>
          </a:p>
          <a:p>
            <a:pPr lvl="1"/>
            <a:r>
              <a:rPr lang="en-US" sz="1800" dirty="0" smtClean="0"/>
              <a:t>Pop (9)</a:t>
            </a:r>
          </a:p>
          <a:p>
            <a:pPr lvl="1"/>
            <a:r>
              <a:rPr lang="en-US" sz="1800" dirty="0" smtClean="0"/>
              <a:t>Calculate (9 * 2 = 18)</a:t>
            </a:r>
          </a:p>
          <a:p>
            <a:pPr lvl="1"/>
            <a:r>
              <a:rPr lang="en-US" sz="1800" dirty="0" smtClean="0"/>
              <a:t>Push (18)</a:t>
            </a:r>
          </a:p>
          <a:p>
            <a:pPr lvl="1">
              <a:buNone/>
            </a:pPr>
            <a:endParaRPr lang="en-US" sz="1800" dirty="0" smtClean="0"/>
          </a:p>
          <a:p>
            <a:pPr>
              <a:buNone/>
            </a:pPr>
            <a:endParaRPr lang="en-US" sz="2400" dirty="0" smtClean="0"/>
          </a:p>
          <a:p>
            <a:pPr>
              <a:buNone/>
            </a:pPr>
            <a:r>
              <a:rPr lang="en-US" sz="2400" dirty="0" smtClean="0"/>
              <a:t> </a:t>
            </a:r>
            <a:endParaRPr 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Conversion: Infix to Prefix</a:t>
            </a:r>
            <a:br>
              <a:rPr lang="en-IN" dirty="0" smtClean="0"/>
            </a:br>
            <a:endParaRPr lang="en-IN" dirty="0"/>
          </a:p>
        </p:txBody>
      </p:sp>
      <p:sp>
        <p:nvSpPr>
          <p:cNvPr id="3" name="Content Placeholder 2"/>
          <p:cNvSpPr>
            <a:spLocks noGrp="1"/>
          </p:cNvSpPr>
          <p:nvPr>
            <p:ph idx="1"/>
          </p:nvPr>
        </p:nvSpPr>
        <p:spPr>
          <a:xfrm>
            <a:off x="1435608" y="1066800"/>
            <a:ext cx="7498080" cy="5181600"/>
          </a:xfrm>
        </p:spPr>
        <p:txBody>
          <a:bodyPr/>
          <a:lstStyle/>
          <a:p>
            <a:r>
              <a:rPr lang="en-IN" dirty="0" smtClean="0"/>
              <a:t>Reverse the input string</a:t>
            </a:r>
          </a:p>
          <a:p>
            <a:r>
              <a:rPr lang="en-IN" dirty="0" smtClean="0"/>
              <a:t>Scan the input string from left to right one character at a time (token)</a:t>
            </a:r>
          </a:p>
          <a:p>
            <a:r>
              <a:rPr lang="en-IN" dirty="0" smtClean="0"/>
              <a:t>Call </a:t>
            </a:r>
            <a:r>
              <a:rPr lang="en-IN" u="sng" dirty="0" smtClean="0">
                <a:solidFill>
                  <a:srgbClr val="FF0000"/>
                </a:solidFill>
              </a:rPr>
              <a:t>modified </a:t>
            </a:r>
            <a:r>
              <a:rPr lang="en-IN" dirty="0" smtClean="0"/>
              <a:t>infix to postfix algorithm</a:t>
            </a:r>
          </a:p>
          <a:p>
            <a:r>
              <a:rPr lang="en-IN" dirty="0" smtClean="0"/>
              <a:t>Reverse the output string to get the prefix expression </a:t>
            </a:r>
          </a:p>
          <a:p>
            <a:endParaRPr lang="en-I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7498080" cy="1143000"/>
          </a:xfrm>
        </p:spPr>
        <p:txBody>
          <a:bodyPr/>
          <a:lstStyle/>
          <a:p>
            <a:r>
              <a:rPr lang="en-IN" dirty="0" smtClean="0"/>
              <a:t>Conversion: Infix to Prefix</a:t>
            </a:r>
            <a:endParaRPr lang="en-IN" dirty="0"/>
          </a:p>
        </p:txBody>
      </p:sp>
      <p:sp>
        <p:nvSpPr>
          <p:cNvPr id="3" name="Content Placeholder 2"/>
          <p:cNvSpPr>
            <a:spLocks noGrp="1"/>
          </p:cNvSpPr>
          <p:nvPr>
            <p:ph idx="1"/>
          </p:nvPr>
        </p:nvSpPr>
        <p:spPr>
          <a:xfrm>
            <a:off x="1219200" y="762000"/>
            <a:ext cx="7714488" cy="5486400"/>
          </a:xfrm>
        </p:spPr>
        <p:txBody>
          <a:bodyPr>
            <a:normAutofit fontScale="85000" lnSpcReduction="20000"/>
          </a:bodyPr>
          <a:lstStyle/>
          <a:p>
            <a:pPr>
              <a:buNone/>
            </a:pPr>
            <a:r>
              <a:rPr lang="en-IN" dirty="0" smtClean="0"/>
              <a:t>If token is </a:t>
            </a:r>
          </a:p>
          <a:p>
            <a:pPr>
              <a:buNone/>
            </a:pPr>
            <a:endParaRPr lang="en-IN" dirty="0" smtClean="0"/>
          </a:p>
          <a:p>
            <a:r>
              <a:rPr lang="en-IN" dirty="0" smtClean="0"/>
              <a:t>Left “(“  </a:t>
            </a:r>
          </a:p>
          <a:p>
            <a:pPr>
              <a:buNone/>
            </a:pPr>
            <a:r>
              <a:rPr lang="en-IN" dirty="0" smtClean="0"/>
              <a:t>  		Push on the stack </a:t>
            </a:r>
          </a:p>
          <a:p>
            <a:pPr>
              <a:buNone/>
            </a:pPr>
            <a:endParaRPr lang="en-IN" dirty="0" smtClean="0"/>
          </a:p>
          <a:p>
            <a:r>
              <a:rPr lang="en-IN" dirty="0" smtClean="0"/>
              <a:t>Operand (number/letter) </a:t>
            </a:r>
          </a:p>
          <a:p>
            <a:pPr>
              <a:buNone/>
            </a:pPr>
            <a:r>
              <a:rPr lang="en-IN" dirty="0" smtClean="0"/>
              <a:t>		 Write directly to output string</a:t>
            </a:r>
          </a:p>
          <a:p>
            <a:pPr>
              <a:buNone/>
            </a:pPr>
            <a:endParaRPr lang="en-IN" dirty="0" smtClean="0"/>
          </a:p>
          <a:p>
            <a:r>
              <a:rPr lang="en-IN" dirty="0" smtClean="0"/>
              <a:t>Right “)” </a:t>
            </a:r>
          </a:p>
          <a:p>
            <a:pPr>
              <a:buNone/>
            </a:pPr>
            <a:r>
              <a:rPr lang="en-IN" dirty="0" smtClean="0"/>
              <a:t>		Pop stack till corresponding “(” is found</a:t>
            </a:r>
          </a:p>
          <a:p>
            <a:pPr>
              <a:buNone/>
            </a:pPr>
            <a:r>
              <a:rPr lang="en-IN" dirty="0" smtClean="0"/>
              <a:t>		If Stack Empty then “error”</a:t>
            </a:r>
          </a:p>
          <a:p>
            <a:pPr>
              <a:buNone/>
            </a:pPr>
            <a:r>
              <a:rPr lang="en-IN" dirty="0" smtClean="0"/>
              <a:t>		Else while stack not empty</a:t>
            </a:r>
          </a:p>
          <a:p>
            <a:pPr>
              <a:buNone/>
            </a:pPr>
            <a:r>
              <a:rPr lang="en-IN" dirty="0" smtClean="0"/>
              <a:t>			pop stack and write to output string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498080" cy="1143000"/>
          </a:xfrm>
        </p:spPr>
        <p:txBody>
          <a:bodyPr/>
          <a:lstStyle/>
          <a:p>
            <a:r>
              <a:rPr lang="en-IN" dirty="0" smtClean="0"/>
              <a:t>Conversion: Infix to Prefix</a:t>
            </a:r>
            <a:endParaRPr lang="en-IN" dirty="0"/>
          </a:p>
        </p:txBody>
      </p:sp>
      <p:sp>
        <p:nvSpPr>
          <p:cNvPr id="3" name="Content Placeholder 2"/>
          <p:cNvSpPr>
            <a:spLocks noGrp="1"/>
          </p:cNvSpPr>
          <p:nvPr>
            <p:ph idx="1"/>
          </p:nvPr>
        </p:nvSpPr>
        <p:spPr>
          <a:xfrm>
            <a:off x="642910" y="914400"/>
            <a:ext cx="8290778" cy="5638800"/>
          </a:xfrm>
        </p:spPr>
        <p:txBody>
          <a:bodyPr>
            <a:normAutofit fontScale="77500" lnSpcReduction="20000"/>
          </a:bodyPr>
          <a:lstStyle/>
          <a:p>
            <a:r>
              <a:rPr lang="en-IN" sz="3400" dirty="0" smtClean="0"/>
              <a:t>Operator</a:t>
            </a:r>
          </a:p>
          <a:p>
            <a:pPr lvl="1">
              <a:buNone/>
            </a:pPr>
            <a:r>
              <a:rPr lang="en-IN" sz="3400" dirty="0" smtClean="0"/>
              <a:t>	If stack </a:t>
            </a:r>
            <a:r>
              <a:rPr lang="en-IN" sz="3400" dirty="0" smtClean="0">
                <a:solidFill>
                  <a:srgbClr val="0070C0"/>
                </a:solidFill>
              </a:rPr>
              <a:t>empty</a:t>
            </a:r>
            <a:r>
              <a:rPr lang="en-IN" sz="3400" dirty="0" smtClean="0"/>
              <a:t> or </a:t>
            </a:r>
            <a:r>
              <a:rPr lang="en-IN" sz="3400" dirty="0" err="1" smtClean="0"/>
              <a:t>sTop</a:t>
            </a:r>
            <a:r>
              <a:rPr lang="en-IN" sz="3400" dirty="0" smtClean="0"/>
              <a:t> = </a:t>
            </a:r>
            <a:r>
              <a:rPr lang="en-IN" sz="3400" dirty="0" smtClean="0">
                <a:solidFill>
                  <a:srgbClr val="FF0000"/>
                </a:solidFill>
              </a:rPr>
              <a:t>“(“</a:t>
            </a:r>
            <a:r>
              <a:rPr lang="en-IN" sz="3400" dirty="0" smtClean="0"/>
              <a:t> then </a:t>
            </a:r>
          </a:p>
          <a:p>
            <a:pPr lvl="1">
              <a:buNone/>
            </a:pPr>
            <a:r>
              <a:rPr lang="en-IN" sz="3400" dirty="0" smtClean="0"/>
              <a:t>		push token/ operator onto stack</a:t>
            </a:r>
          </a:p>
          <a:p>
            <a:pPr lvl="1">
              <a:buNone/>
            </a:pPr>
            <a:r>
              <a:rPr lang="en-IN" sz="3400" dirty="0" smtClean="0"/>
              <a:t>	If precedence (token) </a:t>
            </a:r>
            <a:r>
              <a:rPr lang="en-IN" sz="3400" b="1" dirty="0" smtClean="0">
                <a:solidFill>
                  <a:srgbClr val="FF0000"/>
                </a:solidFill>
              </a:rPr>
              <a:t>&gt;=</a:t>
            </a:r>
            <a:r>
              <a:rPr lang="en-IN" sz="3400" b="1" dirty="0" smtClean="0"/>
              <a:t> </a:t>
            </a:r>
            <a:r>
              <a:rPr lang="en-IN" sz="3400" dirty="0" smtClean="0"/>
              <a:t>precedence (</a:t>
            </a:r>
            <a:r>
              <a:rPr lang="en-IN" sz="3400" dirty="0" err="1" smtClean="0"/>
              <a:t>sTop</a:t>
            </a:r>
            <a:r>
              <a:rPr lang="en-IN" sz="3400" dirty="0" smtClean="0"/>
              <a:t>) then</a:t>
            </a:r>
          </a:p>
          <a:p>
            <a:pPr lvl="1">
              <a:buNone/>
            </a:pPr>
            <a:r>
              <a:rPr lang="en-IN" sz="3400" dirty="0" smtClean="0"/>
              <a:t>		push token/ operator onto stack </a:t>
            </a:r>
          </a:p>
          <a:p>
            <a:pPr lvl="1">
              <a:buNone/>
            </a:pPr>
            <a:r>
              <a:rPr lang="en-IN" sz="3400" dirty="0" smtClean="0"/>
              <a:t>	If precedence (token) &lt; precedence (</a:t>
            </a:r>
            <a:r>
              <a:rPr lang="en-IN" sz="3400" dirty="0" err="1" smtClean="0"/>
              <a:t>sTop</a:t>
            </a:r>
            <a:r>
              <a:rPr lang="en-IN" sz="3400" dirty="0" smtClean="0"/>
              <a:t>) then </a:t>
            </a:r>
          </a:p>
          <a:p>
            <a:pPr lvl="1">
              <a:buNone/>
            </a:pPr>
            <a:r>
              <a:rPr lang="en-IN" sz="3400" dirty="0" smtClean="0"/>
              <a:t>		while stack not empty</a:t>
            </a:r>
          </a:p>
          <a:p>
            <a:pPr lvl="1">
              <a:buNone/>
            </a:pPr>
            <a:r>
              <a:rPr lang="en-IN" sz="3400" dirty="0" smtClean="0"/>
              <a:t>			Pop stack and write to output </a:t>
            </a:r>
          </a:p>
          <a:p>
            <a:pPr lvl="1">
              <a:buNone/>
            </a:pPr>
            <a:r>
              <a:rPr lang="en-IN" sz="3400" dirty="0" smtClean="0"/>
              <a:t>		Push token onto stack </a:t>
            </a:r>
          </a:p>
          <a:p>
            <a:r>
              <a:rPr lang="en-IN" sz="3400" dirty="0" smtClean="0"/>
              <a:t>If </a:t>
            </a:r>
            <a:r>
              <a:rPr lang="en-IN" sz="3400" dirty="0" err="1" smtClean="0"/>
              <a:t>sTop</a:t>
            </a:r>
            <a:r>
              <a:rPr lang="en-IN" sz="3400" dirty="0" smtClean="0"/>
              <a:t> = </a:t>
            </a:r>
            <a:r>
              <a:rPr lang="en-IN" sz="3400" dirty="0" smtClean="0">
                <a:solidFill>
                  <a:srgbClr val="FF0000"/>
                </a:solidFill>
              </a:rPr>
              <a:t>“)”</a:t>
            </a:r>
            <a:r>
              <a:rPr lang="en-IN" sz="3400" dirty="0" smtClean="0"/>
              <a:t> then </a:t>
            </a:r>
          </a:p>
          <a:p>
            <a:pPr>
              <a:buNone/>
            </a:pPr>
            <a:r>
              <a:rPr lang="en-IN" sz="3400" dirty="0" smtClean="0"/>
              <a:t>		Pop and write till corresponding </a:t>
            </a:r>
            <a:r>
              <a:rPr lang="en-IN" sz="3400" dirty="0" smtClean="0">
                <a:solidFill>
                  <a:srgbClr val="FF0000"/>
                </a:solidFill>
              </a:rPr>
              <a:t>“(“ </a:t>
            </a:r>
          </a:p>
          <a:p>
            <a:r>
              <a:rPr lang="en-IN" sz="3400" dirty="0" smtClean="0"/>
              <a:t>If stack empty then “error” </a:t>
            </a:r>
          </a:p>
          <a:p>
            <a:pPr>
              <a:buNone/>
            </a:pPr>
            <a:r>
              <a:rPr lang="en-IN" sz="3400" dirty="0" smtClean="0"/>
              <a:t>    else while stack not empty</a:t>
            </a:r>
          </a:p>
          <a:p>
            <a:pPr>
              <a:buNone/>
            </a:pPr>
            <a:r>
              <a:rPr lang="en-IN" sz="3400" dirty="0" smtClean="0"/>
              <a:t>		pop and write </a:t>
            </a:r>
          </a:p>
          <a:p>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98080" cy="1143000"/>
          </a:xfrm>
        </p:spPr>
        <p:txBody>
          <a:bodyPr/>
          <a:lstStyle/>
          <a:p>
            <a:r>
              <a:rPr lang="en-IN" dirty="0" smtClean="0"/>
              <a:t>Conversion: Infix to Prefix</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A – (B/C) * D	- Infix</a:t>
            </a:r>
          </a:p>
          <a:p>
            <a:pPr>
              <a:buNone/>
            </a:pPr>
            <a:endParaRPr lang="en-IN" dirty="0" smtClean="0"/>
          </a:p>
          <a:p>
            <a:r>
              <a:rPr lang="en-IN" dirty="0" smtClean="0"/>
              <a:t>A – (/BC) * D</a:t>
            </a:r>
          </a:p>
          <a:p>
            <a:endParaRPr lang="en-IN" dirty="0" smtClean="0"/>
          </a:p>
          <a:p>
            <a:r>
              <a:rPr lang="en-IN" dirty="0" smtClean="0"/>
              <a:t>A – [(/BC) * D]</a:t>
            </a:r>
          </a:p>
          <a:p>
            <a:endParaRPr lang="en-IN" dirty="0" smtClean="0"/>
          </a:p>
          <a:p>
            <a:r>
              <a:rPr lang="en-IN" dirty="0" smtClean="0"/>
              <a:t>A - */BCD</a:t>
            </a:r>
          </a:p>
          <a:p>
            <a:endParaRPr lang="en-IN" dirty="0" smtClean="0"/>
          </a:p>
          <a:p>
            <a:r>
              <a:rPr lang="en-IN" dirty="0" smtClean="0"/>
              <a:t>-A*/BCD	- Prefix</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7498080" cy="1143000"/>
          </a:xfrm>
        </p:spPr>
        <p:txBody>
          <a:bodyPr/>
          <a:lstStyle/>
          <a:p>
            <a:r>
              <a:rPr lang="en-IN" dirty="0" smtClean="0"/>
              <a:t>Conversion: Infix to Prefix</a:t>
            </a:r>
            <a:endParaRPr lang="en-IN" dirty="0"/>
          </a:p>
        </p:txBody>
      </p:sp>
      <p:sp>
        <p:nvSpPr>
          <p:cNvPr id="3" name="Content Placeholder 2"/>
          <p:cNvSpPr>
            <a:spLocks noGrp="1"/>
          </p:cNvSpPr>
          <p:nvPr>
            <p:ph idx="1"/>
          </p:nvPr>
        </p:nvSpPr>
        <p:spPr>
          <a:xfrm>
            <a:off x="1219200" y="990600"/>
            <a:ext cx="7714488" cy="5638800"/>
          </a:xfrm>
        </p:spPr>
        <p:txBody>
          <a:bodyPr>
            <a:normAutofit fontScale="70000" lnSpcReduction="20000"/>
          </a:bodyPr>
          <a:lstStyle/>
          <a:p>
            <a:r>
              <a:rPr lang="en-IN" dirty="0" smtClean="0"/>
              <a:t>Infix:  		A – (B/C) * D    </a:t>
            </a:r>
          </a:p>
          <a:p>
            <a:r>
              <a:rPr lang="en-IN" dirty="0" smtClean="0"/>
              <a:t>Reverse:		D * (C/B) – A</a:t>
            </a:r>
          </a:p>
          <a:p>
            <a:r>
              <a:rPr lang="en-IN" dirty="0" smtClean="0"/>
              <a:t>Convert to postfix:</a:t>
            </a:r>
          </a:p>
          <a:p>
            <a:pPr lvl="1"/>
            <a:r>
              <a:rPr lang="en-IN" dirty="0" smtClean="0"/>
              <a:t>D</a:t>
            </a:r>
          </a:p>
          <a:p>
            <a:pPr lvl="1"/>
            <a:r>
              <a:rPr lang="en-IN" dirty="0" smtClean="0"/>
              <a:t>Push (*)  </a:t>
            </a:r>
          </a:p>
          <a:p>
            <a:pPr lvl="1"/>
            <a:r>
              <a:rPr lang="en-IN" dirty="0" smtClean="0"/>
              <a:t>Push “(“</a:t>
            </a:r>
          </a:p>
          <a:p>
            <a:pPr lvl="1"/>
            <a:r>
              <a:rPr lang="en-IN" dirty="0" smtClean="0"/>
              <a:t>DC</a:t>
            </a:r>
          </a:p>
          <a:p>
            <a:pPr lvl="1"/>
            <a:r>
              <a:rPr lang="en-IN" dirty="0" smtClean="0"/>
              <a:t>Push (/) since </a:t>
            </a:r>
            <a:r>
              <a:rPr lang="en-IN" dirty="0" err="1" smtClean="0"/>
              <a:t>sTop</a:t>
            </a:r>
            <a:r>
              <a:rPr lang="en-IN" dirty="0" smtClean="0"/>
              <a:t> == “(“ </a:t>
            </a:r>
          </a:p>
          <a:p>
            <a:pPr lvl="1"/>
            <a:r>
              <a:rPr lang="en-IN" dirty="0" smtClean="0"/>
              <a:t>DCB</a:t>
            </a:r>
          </a:p>
          <a:p>
            <a:pPr lvl="1"/>
            <a:r>
              <a:rPr lang="en-IN" dirty="0" smtClean="0"/>
              <a:t>Pop (/), Pop “(“  </a:t>
            </a:r>
          </a:p>
          <a:p>
            <a:pPr lvl="2"/>
            <a:r>
              <a:rPr lang="en-IN" dirty="0" smtClean="0"/>
              <a:t>=&gt; DCB/</a:t>
            </a:r>
          </a:p>
          <a:p>
            <a:pPr lvl="1"/>
            <a:r>
              <a:rPr lang="en-IN" dirty="0" smtClean="0"/>
              <a:t>Pre (-) &lt; Pre (*) =&gt; Pop (*) </a:t>
            </a:r>
          </a:p>
          <a:p>
            <a:pPr lvl="2"/>
            <a:r>
              <a:rPr lang="en-IN" dirty="0" smtClean="0"/>
              <a:t>=&gt; DCB/*,</a:t>
            </a:r>
          </a:p>
          <a:p>
            <a:pPr lvl="2"/>
            <a:r>
              <a:rPr lang="en-IN" dirty="0" smtClean="0"/>
              <a:t>Push (-)</a:t>
            </a:r>
          </a:p>
          <a:p>
            <a:pPr lvl="1"/>
            <a:r>
              <a:rPr lang="en-IN" dirty="0" smtClean="0"/>
              <a:t>DCB/*A</a:t>
            </a:r>
          </a:p>
          <a:p>
            <a:pPr lvl="1"/>
            <a:r>
              <a:rPr lang="en-IN" dirty="0" smtClean="0"/>
              <a:t>Pop (-) =&gt; DCB/*A-</a:t>
            </a:r>
          </a:p>
          <a:p>
            <a:r>
              <a:rPr lang="en-IN" dirty="0" smtClean="0"/>
              <a:t>Reverse:		- A * / B C D</a:t>
            </a:r>
          </a:p>
          <a:p>
            <a:endParaRPr lang="en-IN" dirty="0"/>
          </a:p>
        </p:txBody>
      </p:sp>
      <p:sp>
        <p:nvSpPr>
          <p:cNvPr id="4" name="Rectangle 3"/>
          <p:cNvSpPr/>
          <p:nvPr/>
        </p:nvSpPr>
        <p:spPr>
          <a:xfrm>
            <a:off x="3352800" y="23622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t>
            </a:r>
            <a:endParaRPr lang="en-IN" b="1" dirty="0"/>
          </a:p>
        </p:txBody>
      </p:sp>
      <p:sp>
        <p:nvSpPr>
          <p:cNvPr id="5" name="Rectangle 4"/>
          <p:cNvSpPr/>
          <p:nvPr/>
        </p:nvSpPr>
        <p:spPr>
          <a:xfrm>
            <a:off x="3352800" y="26670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sp>
        <p:nvSpPr>
          <p:cNvPr id="6" name="Rectangle 5"/>
          <p:cNvSpPr/>
          <p:nvPr/>
        </p:nvSpPr>
        <p:spPr>
          <a:xfrm>
            <a:off x="3810000" y="26670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t>
            </a:r>
            <a:endParaRPr lang="en-IN" b="1" dirty="0"/>
          </a:p>
        </p:txBody>
      </p:sp>
      <p:sp>
        <p:nvSpPr>
          <p:cNvPr id="7" name="Rectangle 6"/>
          <p:cNvSpPr/>
          <p:nvPr/>
        </p:nvSpPr>
        <p:spPr>
          <a:xfrm>
            <a:off x="4724400" y="33528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t>
            </a:r>
            <a:endParaRPr lang="en-IN" b="1" dirty="0"/>
          </a:p>
        </p:txBody>
      </p:sp>
      <p:sp>
        <p:nvSpPr>
          <p:cNvPr id="8" name="Rectangle 7"/>
          <p:cNvSpPr/>
          <p:nvPr/>
        </p:nvSpPr>
        <p:spPr>
          <a:xfrm>
            <a:off x="5181600" y="33528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t>
            </a:r>
            <a:endParaRPr lang="en-IN" b="1" dirty="0"/>
          </a:p>
        </p:txBody>
      </p:sp>
      <p:sp>
        <p:nvSpPr>
          <p:cNvPr id="9" name="Rectangle 8"/>
          <p:cNvSpPr/>
          <p:nvPr/>
        </p:nvSpPr>
        <p:spPr>
          <a:xfrm>
            <a:off x="5638800" y="33528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t>
            </a:r>
            <a:endParaRPr lang="en-IN" b="1" dirty="0"/>
          </a:p>
        </p:txBody>
      </p:sp>
      <p:sp>
        <p:nvSpPr>
          <p:cNvPr id="10" name="Rectangle 9"/>
          <p:cNvSpPr/>
          <p:nvPr/>
        </p:nvSpPr>
        <p:spPr>
          <a:xfrm>
            <a:off x="3657600" y="39624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t>
            </a:r>
            <a:endParaRPr lang="en-IN" b="1" dirty="0"/>
          </a:p>
        </p:txBody>
      </p:sp>
      <p:sp>
        <p:nvSpPr>
          <p:cNvPr id="11" name="Rectangle 10"/>
          <p:cNvSpPr/>
          <p:nvPr/>
        </p:nvSpPr>
        <p:spPr>
          <a:xfrm>
            <a:off x="3505200" y="51054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blinds(horizontal)">
                                      <p:cBhvr>
                                        <p:cTn id="50" dur="500"/>
                                        <p:tgtEl>
                                          <p:spTgt spid="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blinds(horizontal)">
                                      <p:cBhvr>
                                        <p:cTn id="55" dur="500"/>
                                        <p:tgtEl>
                                          <p:spTgt spid="7"/>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blinds(horizontal)">
                                      <p:cBhvr>
                                        <p:cTn id="58" dur="500"/>
                                        <p:tgtEl>
                                          <p:spTgt spid="8"/>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blinds(horizontal)">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3">
                                            <p:txEl>
                                              <p:pRg st="8" end="8"/>
                                            </p:txEl>
                                          </p:spTgt>
                                        </p:tgtEl>
                                        <p:attrNameLst>
                                          <p:attrName>style.visibility</p:attrName>
                                        </p:attrNameLst>
                                      </p:cBhvr>
                                      <p:to>
                                        <p:strVal val="visible"/>
                                      </p:to>
                                    </p:set>
                                    <p:animEffect transition="in" filter="blinds(horizontal)">
                                      <p:cBhvr>
                                        <p:cTn id="66" dur="500"/>
                                        <p:tgtEl>
                                          <p:spTgt spid="3">
                                            <p:txEl>
                                              <p:pRg st="8" end="8"/>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3">
                                            <p:txEl>
                                              <p:pRg st="9" end="9"/>
                                            </p:txEl>
                                          </p:spTgt>
                                        </p:tgtEl>
                                        <p:attrNameLst>
                                          <p:attrName>style.visibility</p:attrName>
                                        </p:attrNameLst>
                                      </p:cBhvr>
                                      <p:to>
                                        <p:strVal val="visible"/>
                                      </p:to>
                                    </p:set>
                                    <p:animEffect transition="in" filter="blinds(horizontal)">
                                      <p:cBhvr>
                                        <p:cTn id="71" dur="500"/>
                                        <p:tgtEl>
                                          <p:spTgt spid="3">
                                            <p:txEl>
                                              <p:pRg st="9" end="9"/>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blinds(horizontal)">
                                      <p:cBhvr>
                                        <p:cTn id="76" dur="500"/>
                                        <p:tgtEl>
                                          <p:spTgt spid="10"/>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
                                            <p:txEl>
                                              <p:pRg st="10" end="10"/>
                                            </p:txEl>
                                          </p:spTgt>
                                        </p:tgtEl>
                                        <p:attrNameLst>
                                          <p:attrName>style.visibility</p:attrName>
                                        </p:attrNameLst>
                                      </p:cBhvr>
                                      <p:to>
                                        <p:strVal val="visible"/>
                                      </p:to>
                                    </p:set>
                                    <p:animEffect transition="in" filter="blinds(horizontal)">
                                      <p:cBhvr>
                                        <p:cTn id="81" dur="500"/>
                                        <p:tgtEl>
                                          <p:spTgt spid="3">
                                            <p:txEl>
                                              <p:pRg st="10" end="1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3">
                                            <p:txEl>
                                              <p:pRg st="11" end="11"/>
                                            </p:txEl>
                                          </p:spTgt>
                                        </p:tgtEl>
                                        <p:attrNameLst>
                                          <p:attrName>style.visibility</p:attrName>
                                        </p:attrNameLst>
                                      </p:cBhvr>
                                      <p:to>
                                        <p:strVal val="visible"/>
                                      </p:to>
                                    </p:set>
                                    <p:animEffect transition="in" filter="blinds(horizontal)">
                                      <p:cBhvr>
                                        <p:cTn id="86" dur="500"/>
                                        <p:tgtEl>
                                          <p:spTgt spid="3">
                                            <p:txEl>
                                              <p:pRg st="11" end="11"/>
                                            </p:txEl>
                                          </p:spTgt>
                                        </p:tgtEl>
                                      </p:cBhvr>
                                    </p:animEffect>
                                  </p:childTnLst>
                                </p:cTn>
                              </p:par>
                              <p:par>
                                <p:cTn id="87" presetID="3" presetClass="entr" presetSubtype="10" fill="hold" nodeType="withEffect">
                                  <p:stCondLst>
                                    <p:cond delay="0"/>
                                  </p:stCondLst>
                                  <p:childTnLst>
                                    <p:set>
                                      <p:cBhvr>
                                        <p:cTn id="88" dur="1" fill="hold">
                                          <p:stCondLst>
                                            <p:cond delay="0"/>
                                          </p:stCondLst>
                                        </p:cTn>
                                        <p:tgtEl>
                                          <p:spTgt spid="3">
                                            <p:txEl>
                                              <p:pRg st="12" end="12"/>
                                            </p:txEl>
                                          </p:spTgt>
                                        </p:tgtEl>
                                        <p:attrNameLst>
                                          <p:attrName>style.visibility</p:attrName>
                                        </p:attrNameLst>
                                      </p:cBhvr>
                                      <p:to>
                                        <p:strVal val="visible"/>
                                      </p:to>
                                    </p:set>
                                    <p:animEffect transition="in" filter="blinds(horizontal)">
                                      <p:cBhvr>
                                        <p:cTn id="89" dur="500"/>
                                        <p:tgtEl>
                                          <p:spTgt spid="3">
                                            <p:txEl>
                                              <p:pRg st="12" end="12"/>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3">
                                            <p:txEl>
                                              <p:pRg st="13" end="13"/>
                                            </p:txEl>
                                          </p:spTgt>
                                        </p:tgtEl>
                                        <p:attrNameLst>
                                          <p:attrName>style.visibility</p:attrName>
                                        </p:attrNameLst>
                                      </p:cBhvr>
                                      <p:to>
                                        <p:strVal val="visible"/>
                                      </p:to>
                                    </p:set>
                                    <p:animEffect transition="in" filter="blinds(horizontal)">
                                      <p:cBhvr>
                                        <p:cTn id="94" dur="500"/>
                                        <p:tgtEl>
                                          <p:spTgt spid="3">
                                            <p:txEl>
                                              <p:pRg st="13" end="13"/>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1"/>
                                        </p:tgtEl>
                                        <p:attrNameLst>
                                          <p:attrName>style.visibility</p:attrName>
                                        </p:attrNameLst>
                                      </p:cBhvr>
                                      <p:to>
                                        <p:strVal val="visible"/>
                                      </p:to>
                                    </p:set>
                                    <p:animEffect transition="in" filter="blinds(horizontal)">
                                      <p:cBhvr>
                                        <p:cTn id="99" dur="500"/>
                                        <p:tgtEl>
                                          <p:spTgt spid="11"/>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nodeType="clickEffect">
                                  <p:stCondLst>
                                    <p:cond delay="0"/>
                                  </p:stCondLst>
                                  <p:childTnLst>
                                    <p:set>
                                      <p:cBhvr>
                                        <p:cTn id="103" dur="1" fill="hold">
                                          <p:stCondLst>
                                            <p:cond delay="0"/>
                                          </p:stCondLst>
                                        </p:cTn>
                                        <p:tgtEl>
                                          <p:spTgt spid="3">
                                            <p:txEl>
                                              <p:pRg st="14" end="14"/>
                                            </p:txEl>
                                          </p:spTgt>
                                        </p:tgtEl>
                                        <p:attrNameLst>
                                          <p:attrName>style.visibility</p:attrName>
                                        </p:attrNameLst>
                                      </p:cBhvr>
                                      <p:to>
                                        <p:strVal val="visible"/>
                                      </p:to>
                                    </p:set>
                                    <p:animEffect transition="in" filter="blinds(horizontal)">
                                      <p:cBhvr>
                                        <p:cTn id="104" dur="500"/>
                                        <p:tgtEl>
                                          <p:spTgt spid="3">
                                            <p:txEl>
                                              <p:pRg st="14" end="14"/>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3">
                                            <p:txEl>
                                              <p:pRg st="15" end="15"/>
                                            </p:txEl>
                                          </p:spTgt>
                                        </p:tgtEl>
                                        <p:attrNameLst>
                                          <p:attrName>style.visibility</p:attrName>
                                        </p:attrNameLst>
                                      </p:cBhvr>
                                      <p:to>
                                        <p:strVal val="visible"/>
                                      </p:to>
                                    </p:set>
                                    <p:animEffect transition="in" filter="blinds(horizontal)">
                                      <p:cBhvr>
                                        <p:cTn id="109" dur="500"/>
                                        <p:tgtEl>
                                          <p:spTgt spid="3">
                                            <p:txEl>
                                              <p:pRg st="15" end="15"/>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nodeType="clickEffect">
                                  <p:stCondLst>
                                    <p:cond delay="0"/>
                                  </p:stCondLst>
                                  <p:childTnLst>
                                    <p:set>
                                      <p:cBhvr>
                                        <p:cTn id="113" dur="1" fill="hold">
                                          <p:stCondLst>
                                            <p:cond delay="0"/>
                                          </p:stCondLst>
                                        </p:cTn>
                                        <p:tgtEl>
                                          <p:spTgt spid="3">
                                            <p:txEl>
                                              <p:pRg st="16" end="16"/>
                                            </p:txEl>
                                          </p:spTgt>
                                        </p:tgtEl>
                                        <p:attrNameLst>
                                          <p:attrName>style.visibility</p:attrName>
                                        </p:attrNameLst>
                                      </p:cBhvr>
                                      <p:to>
                                        <p:strVal val="visible"/>
                                      </p:to>
                                    </p:set>
                                    <p:animEffect transition="in" filter="blinds(horizontal)">
                                      <p:cBhvr>
                                        <p:cTn id="114"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Evaluating Prefix</a:t>
            </a:r>
            <a:endParaRPr lang="en-US" dirty="0"/>
          </a:p>
        </p:txBody>
      </p:sp>
      <p:sp>
        <p:nvSpPr>
          <p:cNvPr id="3" name="Content Placeholder 2"/>
          <p:cNvSpPr>
            <a:spLocks noGrp="1"/>
          </p:cNvSpPr>
          <p:nvPr>
            <p:ph idx="1"/>
          </p:nvPr>
        </p:nvSpPr>
        <p:spPr/>
        <p:txBody>
          <a:bodyPr>
            <a:normAutofit lnSpcReduction="10000"/>
          </a:bodyPr>
          <a:lstStyle/>
          <a:p>
            <a:r>
              <a:rPr lang="en-US" dirty="0" smtClean="0"/>
              <a:t>Read the input string from Right to Left</a:t>
            </a:r>
          </a:p>
          <a:p>
            <a:r>
              <a:rPr lang="en-US" dirty="0" smtClean="0"/>
              <a:t>Each time an operand is read-&gt;</a:t>
            </a:r>
          </a:p>
          <a:p>
            <a:pPr lvl="1"/>
            <a:r>
              <a:rPr lang="en-US" dirty="0" smtClean="0"/>
              <a:t>Push it on the stack </a:t>
            </a:r>
          </a:p>
          <a:p>
            <a:r>
              <a:rPr lang="en-US" dirty="0" smtClean="0"/>
              <a:t>When an operator is read </a:t>
            </a:r>
          </a:p>
          <a:p>
            <a:pPr lvl="1"/>
            <a:r>
              <a:rPr lang="en-US" dirty="0" smtClean="0"/>
              <a:t>Pop the two operands from the top of the stack </a:t>
            </a:r>
          </a:p>
          <a:p>
            <a:pPr lvl="1"/>
            <a:r>
              <a:rPr lang="en-US" dirty="0" smtClean="0"/>
              <a:t>Perform the indicated operation on the two operands</a:t>
            </a:r>
          </a:p>
          <a:p>
            <a:pPr lvl="1"/>
            <a:r>
              <a:rPr lang="en-US" dirty="0" smtClean="0"/>
              <a:t>Push the result back onto the stack, so that it is available as an operand for the next operator </a:t>
            </a:r>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1577</Words>
  <Application>Microsoft Office PowerPoint</Application>
  <PresentationFormat>On-screen Show (4:3)</PresentationFormat>
  <Paragraphs>355</Paragraphs>
  <Slides>28</Slides>
  <Notes>9</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Applications of Stack</vt:lpstr>
      <vt:lpstr>Stacks</vt:lpstr>
      <vt:lpstr>Stacks</vt:lpstr>
      <vt:lpstr>Applications of Stack</vt:lpstr>
      <vt:lpstr>Reversing a String</vt:lpstr>
      <vt:lpstr>Matching Parentheses</vt:lpstr>
      <vt:lpstr>Matching Parentheses</vt:lpstr>
      <vt:lpstr>Continued…</vt:lpstr>
      <vt:lpstr>Continued…</vt:lpstr>
      <vt:lpstr>Continued…</vt:lpstr>
      <vt:lpstr>Arithmetic Expressions</vt:lpstr>
      <vt:lpstr>Evaluation of Arithmetic Expressions </vt:lpstr>
      <vt:lpstr>Example: Infix to Postfix </vt:lpstr>
      <vt:lpstr>Example</vt:lpstr>
      <vt:lpstr>Conversion: infix to postfix </vt:lpstr>
      <vt:lpstr>Conversion: infix to postfix </vt:lpstr>
      <vt:lpstr>Conversion: infix to postfix </vt:lpstr>
      <vt:lpstr>Conversion: infix to postfix </vt:lpstr>
      <vt:lpstr>Evaluating a postfix expression</vt:lpstr>
      <vt:lpstr>Evaluating a postfix expression using a Stack</vt:lpstr>
      <vt:lpstr>Continued…</vt:lpstr>
      <vt:lpstr>Evaluating a postfix expression using a Stack – Example </vt:lpstr>
      <vt:lpstr>Conversion: Infix to Prefix </vt:lpstr>
      <vt:lpstr>Conversion: Infix to Prefix</vt:lpstr>
      <vt:lpstr>Conversion: Infix to Prefix</vt:lpstr>
      <vt:lpstr>Conversion: Infix to Prefix</vt:lpstr>
      <vt:lpstr>Conversion: Infix to Prefix</vt:lpstr>
      <vt:lpstr>Evaluating Prefix</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Stack</dc:title>
  <dc:creator>Dr. R.B.Patel</dc:creator>
  <cp:lastModifiedBy>Dr. R.B.Patel</cp:lastModifiedBy>
  <cp:revision>8</cp:revision>
  <dcterms:created xsi:type="dcterms:W3CDTF">2017-09-12T03:38:11Z</dcterms:created>
  <dcterms:modified xsi:type="dcterms:W3CDTF">2017-09-12T05:25:43Z</dcterms:modified>
</cp:coreProperties>
</file>